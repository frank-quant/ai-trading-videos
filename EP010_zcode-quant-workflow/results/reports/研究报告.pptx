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组最好 IR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0.605</c:v>
                </c:pt>
                <c:pt idx="1">
                  <c:v>1.251</c:v>
                </c:pt>
                <c:pt idx="2">
                  <c:v>1.570</c:v>
                </c:pt>
                <c:pt idx="3">
                  <c:v>1.764</c:v>
                </c:pt>
                <c:pt idx="4">
                  <c:v>1.805</c:v>
                </c:pt>
                <c:pt idx="5">
                  <c:v>1.835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组最好 IR</c:v>
                </c:pt>
              </c:strCache>
            </c:strRef>
          </c:tx>
          <c:spPr>
            <a:solidFill>
              <a:srgbClr val="8FA9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0.579</c:v>
                </c:pt>
                <c:pt idx="1">
                  <c:v>0.981</c:v>
                </c:pt>
                <c:pt idx="2">
                  <c:v>1.344</c:v>
                </c:pt>
                <c:pt idx="3">
                  <c:v>1.755</c:v>
                </c:pt>
                <c:pt idx="4">
                  <c:v>1.739</c:v>
                </c:pt>
                <c:pt idx="5">
                  <c:v>1.775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搜索期 IR（扣成本）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64748B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前</c:v>
                </c:pt>
              </c:strCache>
            </c:strRef>
          </c:tx>
          <c:spPr>
            <a:solidFill>
              <a:srgbClr val="8FA9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L5</c:v>
                  </c:pt>
                  <c:pt idx="1">
                    <c:v>L6</c:v>
                  </c:pt>
                  <c:pt idx="2">
                    <c:v>L7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305</c:v>
                </c:pt>
                <c:pt idx="1">
                  <c:v>211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后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L5</c:v>
                  </c:pt>
                  <c:pt idx="1">
                    <c:v>L6</c:v>
                  </c:pt>
                  <c:pt idx="2">
                    <c:v>L7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333</c:v>
                </c:pt>
                <c:pt idx="1">
                  <c:v>234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 前</c:v>
                </c:pt>
              </c:strCache>
            </c:strRef>
          </c:tx>
          <c:spPr>
            <a:solidFill>
              <a:srgbClr val="C4B0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L5</c:v>
                  </c:pt>
                  <c:pt idx="1">
                    <c:v>L6</c:v>
                  </c:pt>
                  <c:pt idx="2">
                    <c:v>L7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78</c:v>
                </c:pt>
                <c:pt idx="1">
                  <c:v>63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 后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L5</c:v>
                  </c:pt>
                  <c:pt idx="1">
                    <c:v>L6</c:v>
                  </c:pt>
                  <c:pt idx="2">
                    <c:v>L7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383</c:v>
                </c:pt>
                <c:pt idx="1">
                  <c:v>312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000000"/>
                    </a:solidFill>
                    <a:latin typeface="Arial"/>
                  </a:rPr>
                  <a:t>剩余配置数（L5~L7）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64748B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q25</c:v>
                </c:pt>
              </c:strCache>
            </c:strRef>
          </c:tx>
          <c:spPr>
            <a:solidFill>
              <a:srgbClr val="8FA9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组 (n=637)</c:v>
                  </c:pt>
                  <c:pt idx="1">
                    <c:v>B 组 (n=650)</c:v>
                  </c:pt>
                  <c:pt idx="2">
                    <c:v>主猴子43 (n=632)</c:v>
                  </c:pt>
                  <c:pt idx="3">
                    <c:v>农场20只 (n=12,620)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-2.66</c:v>
                </c:pt>
                <c:pt idx="1">
                  <c:v>2.60</c:v>
                </c:pt>
                <c:pt idx="2">
                  <c:v>-24.86</c:v>
                </c:pt>
                <c:pt idx="3">
                  <c:v>-23.47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中位数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组 (n=637)</c:v>
                  </c:pt>
                  <c:pt idx="1">
                    <c:v>B 组 (n=650)</c:v>
                  </c:pt>
                  <c:pt idx="2">
                    <c:v>主猴子43 (n=632)</c:v>
                  </c:pt>
                  <c:pt idx="3">
                    <c:v>农场20只 (n=12,620)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9.46</c:v>
                </c:pt>
                <c:pt idx="1">
                  <c:v>9.20</c:v>
                </c:pt>
                <c:pt idx="2">
                  <c:v>-9.81</c:v>
                </c:pt>
                <c:pt idx="3">
                  <c:v>-10.07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q75</c:v>
                </c:pt>
              </c:strCache>
            </c:strRef>
          </c:tx>
          <c:spPr>
            <a:solidFill>
              <a:srgbClr val="2E50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组 (n=637)</c:v>
                  </c:pt>
                  <c:pt idx="1">
                    <c:v>B 组 (n=650)</c:v>
                  </c:pt>
                  <c:pt idx="2">
                    <c:v>主猴子43 (n=632)</c:v>
                  </c:pt>
                  <c:pt idx="3">
                    <c:v>农场20只 (n=12,620)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17.10</c:v>
                </c:pt>
                <c:pt idx="1">
                  <c:v>14.77</c:v>
                </c:pt>
                <c:pt idx="2">
                  <c:v>-7.31</c:v>
                </c:pt>
                <c:pt idx="3">
                  <c:v>-7.31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年化超额 %（vs 股票池等权）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64748B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组合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验证期 2023–24</c:v>
                  </c:pt>
                  <c:pt idx="1">
                    <c:v>封存期 2025–26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15.54</c:v>
                </c:pt>
                <c:pt idx="1">
                  <c:v>13.48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monkey_43 组合</c:v>
                </c:pt>
              </c:strCache>
            </c:strRef>
          </c:tx>
          <c:spPr>
            <a:solidFill>
              <a:srgbClr val="8FA9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验证期 2023–24</c:v>
                  </c:pt>
                  <c:pt idx="1">
                    <c:v>封存期 2025–26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9.84</c:v>
                </c:pt>
                <c:pt idx="1">
                  <c:v>10.72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510300 买入持有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验证期 2023–24</c:v>
                  </c:pt>
                  <c:pt idx="1">
                    <c:v>封存期 2025–26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3.04</c:v>
                </c:pt>
                <c:pt idx="1">
                  <c:v>8.93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绝对年化收益 %（组合口径）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64748B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开场：一句话——样本外 AI 组合跑赢 510300 买入持有 +4.55%/年（年化超额），但没有任何策略过全部八层；本版为开封后补检更新版。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门槛在开封前定死；v3.4 是看过第三轮样本外全败之后、新一轮搜索之前做的扩空间决策。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收尾：流程可信度是本次最大的产出，策略本身仍是候选而非结论；严格达标 0 是实际终判。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EP010 · 量化研究正式跑 · 2026-10-17 ~ 10-18 · 本报告为开封后补检更新版（2026-10-18）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20700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选股策略六轮搜索与封存期检验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沪深300 + 中证500 + 中证1000 历史成分 · 周度打分型 · 八层漏斗 · 20 只随机猴子对照 · 封存期只开一次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52374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补检更新：第 5 步邻域补检（746/746 恢复）在第 7 步开封之后补做，本报告全部数字统一为补检后重判口径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035808"/>
            <a:ext cx="11183112" cy="0"/>
          </a:xfrm>
          <a:prstGeom prst="line">
            <a:avLst/>
          </a:prstGeom>
          <a:noFill/>
          <a:ln w="12700">
            <a:solidFill>
              <a:srgbClr val="2E50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55264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069080"/>
            <a:ext cx="2567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过全部八层的策略数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A·B·monkey_43·农场20只 合计 0（补检后重判为实际终判）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8698" y="3255264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+4.55%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8698" y="4069080"/>
            <a:ext cx="2567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封存期 AI 组合年化超额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510300 ETF 买入持有（8.93%，绝对年化）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94476" y="3255264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94476" y="4069080"/>
            <a:ext cx="2567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入围策略封存期跑赢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股票池等权基准（monkey_43 为 1/3）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90254" y="3255264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23,904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890254" y="4069080"/>
            <a:ext cx="2567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试验台账行数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23,158 + 补检 746，只增不删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138928"/>
            <a:ext cx="11183112" cy="1207008"/>
          </a:xfrm>
          <a:prstGeom prst="roundRect">
            <a:avLst>
              <a:gd name="adj" fmla="val 3788"/>
            </a:avLst>
          </a:prstGeom>
          <a:solidFill>
            <a:srgbClr val="1325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248656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披露（不得省略）：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本数据集 2023 年之后的区间，在本项目早期探索阶段曾被整体检视过一次（2026-09-24 试跑开封，对当时 6 个旧策略揭晓过表现）。对本轮搜索产出的新策略，数据未用于搜索，但设计者已知这段行情的大致性质（rules.md 第 1 节，详见第 10 页）。本报告为开封后补检更新版：补检与 L5~L8 重判发生在第 7 步开封之后，未对任何新增对象开封，未使用任何封存期收益挑选或替换对象。数字为一次性样本外结果，不构成投资建议。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研究规则与历次修订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rules.md 由人定、AI 只读；任何修改都要重新 commit 并写明原因。门槛与入围分全部在开封前定死。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时间切分（第 1 节）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0784"/>
          <a:ext cx="55778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28800"/>
                <a:gridCol w="2606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2014 ~ 2022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随便用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 ~ 2024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只在第 6 层用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封存期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~ 2026-09-30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锁死，只开一次（第 7 步已开封）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2004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八层漏斗（门槛要点）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35204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交易≥100 笔（周度≥300 期）· L2 扣成本年化超额&gt;0 · L3 IR&gt;0.4 且超额回撤&lt;30%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9 个完整年份 ≥6 年超额为正 · L5 参数挪一档邻居 70% 仍过 L1-4 · L6 验证期超额&gt;0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与已入库策略日超额相关 &lt;0.7 · L8 DSR&gt;0.95 且 t≥3（按组 N 折扣多重检验）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84632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八层之外设出口（5.3~5.5）：每组必出 3 个入围（入围分 = min(搜索IR, 验证IR)）；入围≠达标，未过的层必须随成绩披露；组合 = 沪深300ETF/黄金 200 日线底仓 60% + 卫星 40%。L8 的 N 按组取全部台账行（含错误与重试行）——本报告口径 AI=4,637、monkey_43=649。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37960" y="12252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历次修订（开封前全部定稿）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37960" y="1609344"/>
            <a:ext cx="128016" cy="12801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Shape 10"/>
          <p:cNvSpPr/>
          <p:nvPr/>
        </p:nvSpPr>
        <p:spPr>
          <a:xfrm>
            <a:off x="6597396" y="1773936"/>
            <a:ext cx="0" cy="585216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1481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09-17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0" y="1481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初版：时间切分 + 五版成本/撮合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37960" y="2450592"/>
            <a:ext cx="128016" cy="12801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7" name="Shape 14"/>
          <p:cNvSpPr/>
          <p:nvPr/>
        </p:nvSpPr>
        <p:spPr>
          <a:xfrm>
            <a:off x="6597396" y="2615184"/>
            <a:ext cx="0" cy="585216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2322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09-19~20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0" y="232257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v2~v3：门槛改为超额口径；新增入围制、入围分、组合层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37960" y="3291840"/>
            <a:ext cx="128016" cy="12801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1" name="Shape 18"/>
          <p:cNvSpPr/>
          <p:nvPr/>
        </p:nvSpPr>
        <p:spPr>
          <a:xfrm>
            <a:off x="6597396" y="3456432"/>
            <a:ext cx="0" cy="585216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3163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09-23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72400" y="316382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v3.2：邻域变体=探针；monkey_42 与 A 重复作废 → 43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413308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Shape 22"/>
          <p:cNvSpPr/>
          <p:nvPr/>
        </p:nvSpPr>
        <p:spPr>
          <a:xfrm>
            <a:off x="6597396" y="4297680"/>
            <a:ext cx="0" cy="585216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12280" y="4005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10-07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72400" y="40050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v3.4：切分后移（封存 2025 起）；池加中证1000；零件加龙虎榜/两融/北向；中性化两口径；月度调仓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4974336"/>
            <a:ext cx="128016" cy="12801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9" name="Text 26"/>
          <p:cNvSpPr/>
          <p:nvPr/>
        </p:nvSpPr>
        <p:spPr>
          <a:xfrm>
            <a:off x="6812280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10-07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0" y="4846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v3.5：第 14 章必报指标（IC/分层/换手/容量/衰减）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来源：rules.md（第 9 节修订记录）；EP010_正式跑手册.md；N 口径见 after/count_diff.json n_trials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执行流程与补检时序：七步走完 + 开封后补检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步邻域补检在第 7 步开封之后补做（746/746 恢复）；本报告全部数字统一为补检后重判口径。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154533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数据核验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" y="18836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个数据副本（不下载、只读）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≤2024-12-31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sealed ≥2025-01-01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91256" y="2112264"/>
            <a:ext cx="137160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28416" y="1463040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9856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95344" y="154533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引擎与日期审计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38144" y="18836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独立审计 ×3 轮 4/4 全过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配置逐位回归 1,650 单元格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38144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6,192 万次撕报纸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不一致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16752" y="2112264"/>
            <a:ext cx="137160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53912" y="1463040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45352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20840" y="154533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零件库扩充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3640" y="18836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龙虎榜·两融·北向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行业内/市值档中性化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章指标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月度调仓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42248" y="2112264"/>
            <a:ext cx="137160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79408" y="1463040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70848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546336" y="154533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六轮搜索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89136" y="18836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637 · B 650 · 主猴 637 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89136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 IR：A 1.835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1.775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2962656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0266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69848" y="30449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八层漏斗 + 入围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2648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 0 个达标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入围 AI 3 + 主猴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746 邻域探针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MemoryError 待恢复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91256" y="3611880"/>
            <a:ext cx="137160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28416" y="2962656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19856" y="30266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3895344" y="30449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农场 20 猴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38144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每只 637 单 · L8 合计 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38144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随机对照成立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16752" y="3611880"/>
            <a:ext cx="137160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53912" y="2962656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45352" y="30266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720840" y="30449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开封 + 组合层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63640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封存窗 424 个交易日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只开一次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组合超额 +4.55%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50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m43 +1.80%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842248" y="3611880"/>
            <a:ext cx="137160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79408" y="2962656"/>
            <a:ext cx="2688336" cy="1298448"/>
          </a:xfrm>
          <a:prstGeom prst="roundRect">
            <a:avLst>
              <a:gd name="adj" fmla="val 3521"/>
            </a:avLst>
          </a:prstGeom>
          <a:solidFill>
            <a:srgbClr val="FDF3E3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070848" y="30266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9546336" y="304495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步补检恢复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089136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开封后补做 746/746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L5~L8 重判（本报告口径）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89136" y="3931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严格达标仍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六席名单不变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323576" y="2761488"/>
            <a:ext cx="0" cy="100584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47088" y="2862072"/>
            <a:ext cx="8476488" cy="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47088" y="2862072"/>
            <a:ext cx="0" cy="100584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02920" y="4498848"/>
            <a:ext cx="11183112" cy="178308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608576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补检恢复的事实与时序（如实披露）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31520" y="4901184"/>
            <a:ext cx="10725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746 条邻域探针行为 error_runtime: MemoryError——workers=22 聚合工作集超 62GB 物理内存的运行期资源错误，不是参数检验失败；历史错误行保留不改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 746/746 全部 ok（A 56 / B 690）；台账 23,158 → 23,904 行只追加（字节级：before 5,655,044 字节为当前 5,891,238 字节的逐字节前缀）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时序：第 7 步开封在前（2026-10-18 13:14:35 创建开封标记、commit 454ed47f「开封前定稿」）；补检在后（追加行 ts 13:43:38Z ~ 13:59:35Z）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补检未使用任何封存期收益挑选或替换对象；12 条开封期评估行只按行数计入 N 与 V[SR]，指标数值未读取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来源：notes/audit_todos.md #1；reports/supplement/20261018/task_manifest.json / retry_summary.json / 补检核对.md；after/count_diff.json；ledger/ledger.csv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审计打回记录 与 补检独立复核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独立审计员与写代码的工程师无共享上下文，只凭文件与命令输出下结论。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独立审计：4 轮全过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0784"/>
          <a:ext cx="54864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56616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步 ×3 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封存边界 / 五处日期口径 / 50 配置逐位回归（1,650 单元格一致）/ 三套测试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4/4 全过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步 ×1 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资金面对齐（≤T / &lt;T）/ 北向缺失（NaN≠0）/ 中性化 / 第 14 章口径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10/10 全过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3649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打回与修正（如实留痕）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3675888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附注行号引用错误 1395→1449（第 2 轮审计修正）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断言计数 11→10、告警拆分 13+2→12+1（第 3 步清单复核补正）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monkey_42 与 A 组配置重复 → 对照组作废，换独立生成的 monkey_43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试跑风格体检两口径 56–60% vs 7–13% → 数据作废，正式跑统一口径重算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高并发内存竞争（3 次登记）：第 5 步 workers=22 下 746 个邻域探针 MemoryError → 开封后补检恢复 746/746（见第 3 页）；审计待办累计 6 条登记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353312"/>
            <a:ext cx="5285232" cy="4572000"/>
          </a:xfrm>
          <a:prstGeom prst="roundRect">
            <a:avLst>
              <a:gd name="adj" fmla="val 1000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14813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补检恢复的独立复核（2026-10-18，开封后）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1810512"/>
            <a:ext cx="48280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独立审核员（全新上下文）9 项逐项复核全部确认，未发现造假迹象，无未解决项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 746/746 真实完成：manifest 任务台账最新行全部 ok、746 套产物全量存在且台账 5 项指标与 summary 一致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重判可信：L5 分母/邻居三处理/L6 复用/L7 池/L8 N 口径独立重算逐名逐位一致；基线对拍 L7 全局贪心与 L8 DSR 18/18 逐位一致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翻转属实且六席名单未变：a_r6_067 / a_r6_068 由未过翻转为通过（1/2→2/2、0/1→1/1），未过层 ['L5']→['L7']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台账只追加：before 快照为当前台账的逐字节前缀（23,158→23,904，旧错误行无一字节改动）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过程缺陷判定：恢复主循环读冒烟后未刷新的 retry_status.json（旧值 pending=744）提前收口并降并发——以台账为准，未漏任何任务、不影响最终恢复结果与重判输入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封存纪律未破坏：after 产物未对任何新增对象开封、未读取 12 条开封期行的指标数值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来源：reports/audit_engine.md（4 轮审计）；notes/audit_todos.md；reports/supplement/20261018/补检核对.md（9 项复核 + audit_checks/check1~5）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组：先盲写提案，再看零件库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个策略族写在读零件库之前（commit e653dab，盲写声明在案）；落地、近似与证伪全程留痕。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落地：5 族直接实现 + 4 族秩近似替代（SUE→基本面动量、IVOL→波动率负权、Amihud→换手负权、事件滚动→定期调仓）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零件缺失 6 条如实记录（SUE 单季盈余、IVOL 回归残差、Amihud、融资买入占比、事件滚动组合器、ROE 4~8 季均值——其中 3 条属数据列缺失，新零件也造不出）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新零件申请 0 条：全程 3 个额度未用；引擎已有 5 个 B 组登记零件为本轮第 1 步基线自带，本轮零新增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提案族成绩：backbone（小盘×低估值×低换手）搜索期 IR 1.755，+roe 质量腿 1.775；预告意外×backbone 1.635；margin 腿并入配方 1.634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证伪：短期反转 −0.552、低波 0.204、两融/龙虎榜独立线 0.129、价值质量 0.818、北向独立 0.646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4114800"/>
            <a:ext cx="6309360" cy="18288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42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盲写测试的读法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53712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组没有交回「老一套指标」——9 族里 4 族需要本项目没有的截面回归/事件滚动零件，只能秩近似；真正跑出来的 backbone 与 A 组主线殊途同归（行业内小盘 + 低换手 + 低估值），说明这个空间里能挖到的 alpha 结构是收敛的，而不是某个灵感独有。消融与邻域显示平台宽（r5 邻域 8/8 全过 L3+L4），r6 探到 S −2.0 仅缓降至 1.481 无悬崖。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371600"/>
            <a:ext cx="4507992" cy="1024128"/>
          </a:xfrm>
          <a:prstGeom prst="roundRect">
            <a:avLst>
              <a:gd name="adj" fmla="val 446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32520" y="1481328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提案策略族（盲写于读零件库之前）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2542032"/>
            <a:ext cx="4507992" cy="1024128"/>
          </a:xfrm>
          <a:prstGeom prst="roundRect">
            <a:avLst>
              <a:gd name="adj" fmla="val 446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26334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+ 4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32520" y="265176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族落地方式：直接实现 + 秩近似替代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3712464"/>
            <a:ext cx="4507992" cy="1024128"/>
          </a:xfrm>
          <a:prstGeom prst="roundRect">
            <a:avLst>
              <a:gd name="adj" fmla="val 446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38039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32520" y="3822192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零件缺失如实记录（不造数）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4882896"/>
            <a:ext cx="4507992" cy="1024128"/>
          </a:xfrm>
          <a:prstGeom prst="roundRect">
            <a:avLst>
              <a:gd name="adj" fmla="val 446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497433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32520" y="4992624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新零件申请（3 个额度全程未用）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来源：notes/search_agent_b_proposal.md / search_agent_b.md；reports/search_summary.md 第 3~4 节；engine/operator_registry.json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六轮搜索：IR 的迭代曲线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 100~150 个配置单，AI 在上一轮结果上学习；主猴子同期随机等量抽样。搜索期口径，补检不改变本页数字。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863840" y="1554480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+46.7%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863840" y="226771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 R6 vs R2 最好 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（1.835 vs 1.251）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880360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+80.9%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863840" y="359359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 R6 vs R2 最好 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（1.775 vs 0.981）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4160520"/>
            <a:ext cx="3822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 IR 同步抬升：A −0.70 → +1.63；B −0.36 → +1.39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 后进入平台期：后两轮转向邻域、极值边界与消融验证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主猴子全程无迭代：最好 IR 0.520（m43_172），中位 −0.683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来源：ledger/ledger.csv（各轮 argmax 与中位）；reports/search_summary.md 第 6 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八层漏斗全量对比：补检前 → 补检后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= 第 6 步收口终判；后 = 第 5 步邻域补检（746/746 恢复）后的重判 = 本报告实际终判。表中为每层剩余配置数。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126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60120"/>
                <a:gridCol w="96012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层与门槛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前→后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前→后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主猴43 前→后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农场20只 前→后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交易笔数/调仓期数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637 → 637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650 → 650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486 → 486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9755 → 9755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扣成本年化超额&gt;0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460 → 460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524 → 524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 → 38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911 → 911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IR&gt;0.4 且回撤&lt;30%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347 → 347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410 → 410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→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 → 44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 9 年 ≥6 年超额为正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338 → 338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410 → 410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→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 → 21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 邻域 70% 存活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305 → 333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 → 383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 → 17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L6 验证期超额&gt;0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211 → 234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 → 312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→ 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 相关&lt;0.7 去重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→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→ 14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→ 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L8 DSR&gt;0.95 且 t≥3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→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812280" y="1417320"/>
          <a:ext cx="4892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812280" y="457200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 与最终达标：A、B、monkey_43、农场 20 只全部 0 → 严格达标合计 0（补检后重判为实际终判）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a_r6_067 / a_r6_068 的 L5 由未过翻转为通过（1/2→2/2、0/1→1/1），未过层 ['L5']→['L7']，等级与入围分不变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 L7 时点脉络：11（第 5 步）→ 10（收口）→ 14（补检后），引用需注明时点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L1~L4 与猴子/农场全链不变：补检只恢复 A/B 探针行，未改任何基础配置行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02920" y="48646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N（第 8 层 DSR 折扣用，按组全部台账行）：AI 3,885 → 4,637 · monkey_43 643 → 649（+746 补检行；+12 开封期行只计行数）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535838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 L5 由 78 → 383：原 78/410（19%）是在 92% 邻居行 OOM 的台账上判定的；补检后为完整口径。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来源：after/funnel_summary.md ①②；after/count_diff.json layers / n_trials；data/funnel_layers.json（收口终判）；notes/audit_todos.md #1/#4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vs 20 只随机猴子：年化超额分布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各组全部基础配置单、搜索期（2014–2022）扣成本年化超额（vs 股票池等权基准）；补检不改变基础配置行，本页数字与收口一致。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955280" y="1600200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+19pp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955280" y="2313432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中位 vs 猴子中位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（+9.4% vs −9.8%）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301752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分布几乎不重叠：A 组 q25（−2.7%）高于猴子 q75（−7.3%）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只农场猴子的中位数落在 −5% ~ −15% 区间，无一为正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结论：搜索期的超额来自迭代学习，不是随机抽样运气的量级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5029200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注：农场 20 只的 q25/q75 为「各自中位数」分布的四分位（12,620 单全部配置的合并分布见 Excel 台账页）。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来源：ledger/ledger.csv（各组搜索期最新行）；reports/compare.md ③（收口终判口径）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入围名单与评估指标（原锁定六席，补检后口径）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每组必出 3 个（rules.md 5.3）；入围分 = min(搜索期IR, 验证期IR)；入围 ≠ 达标——六席在开封前均未过全部八层。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26464"/>
          <a:ext cx="111831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97280"/>
                <a:gridCol w="822960"/>
                <a:gridCol w="2880360"/>
                <a:gridCol w="868680"/>
                <a:gridCol w="868680"/>
                <a:gridCol w="1234440"/>
                <a:gridCol w="914400"/>
                <a:gridCol w="86868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入围分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未过的层（原 → 补检后）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搜索IR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验证IR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封存年化超额(vs 等权)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封存超额IR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ICIR(搜)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换手(封存)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a_r4_007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1.1519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['L7'] → ['L7']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1.3051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1.1519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+10.14%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8.08×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a_r6_067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1.2576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['L5'] → ['L7']（L5 翻转为过）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1.3329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1.2576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+5.97%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1.797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7.08×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a_r6_068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1.1650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['L5'] → ['L7']（L5 翻转为过）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1.3905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1.1650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+6.92%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6.80×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m43_042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0.2617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['L4','L5(未检验)'] 不变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0.4476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0.2617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3.12×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m43_092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['L5'] 不变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0.5083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-0.2627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-2.05%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1.359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17.55×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m43_172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['L4','L3','L5(未检验)'] 不变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-0.6703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+4.63%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1.286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0.95×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526280"/>
            <a:ext cx="11183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六席成员与顺序不变；等级与入围分不变；变化的只是未过层标注（a_r6_067 / a_r6_068 的 L5 翻转为通过，标注后移至 L7）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只有原锁定名单拥有封存结果：补检后名单不得拼接或借用任何旧收益；封存期成绩对应原锁定名单（未对任何新增对象开封）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三席同族：行业内小盘 × 低换手 × 低估值（+roe），内部日超额相关 0.80~0.89，组合分散有限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m43_092 / m43_172 为「验证期未通过」的补位，只能称本组最好的候选（rules.md 5.4 兜底条款）；IC/分层/容量/衰减三段数值见 Excel 台账页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来源：reports/shortlist.md（原锁定名单）；after/名单与等级差异.md（补检后重判）；reports/sealed_result.md 第 1、3 节（封存期列）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封存期结果（20250102~20260930，424 个交易日）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开封一次（2026-10-18 13:14:35 标记，commit 454ed47f）。基准分列：股票池等权 12.88% / 510300 买入持有 8.93%（均为绝对年化）。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7360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188720"/>
                <a:gridCol w="685800"/>
                <a:gridCol w="868680"/>
                <a:gridCol w="96012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绝对年化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年化超额(vs 等权)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超额IR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超额回撤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绝对回撤(参考)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超额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超额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a_r4_007（AI）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23.02%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+10.14%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-13.97%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-17.72%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+19.32%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a_r6_067（AI）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18.85%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+5.97%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-12.83%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-17.27%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+6.78%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+3.49%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a_r6_068（AI）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19.81%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+6.92%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-12.94%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-18.60%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+11.68%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+1.29%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m43_042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11.18%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-17.72%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-22.36%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+6.73%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-7.15%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m43_092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10.83%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-2.05%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-21.81%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-25.37%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-6.79%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+2.31%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m43_172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17.52%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+4.63%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-14.14%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-16.07%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7D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+10.04%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481328"/>
            <a:ext cx="3593592" cy="2148840"/>
          </a:xfrm>
          <a:prstGeom prst="roundRect">
            <a:avLst>
              <a:gd name="adj" fmla="val 2128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8275320" y="16093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组合层（底仓 60% + 卫星 40%）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75320" y="1901952"/>
            <a:ext cx="3227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组合：绝对年化 13.48% · 绝对回撤 -11.38%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510300 年化超额 +4.55% · 超额回撤 -9.28%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m43 组合：绝对年化 10.72% · 回撤 -13.10% · 超额 +1.80% · 超额回撤 -8.35%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7D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组合回撤 &lt;25% 检验：两组均达标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基准同窗：等权 12.88%（回撤 -16.58%）；510300 买入持有 8.93%（-13.26%）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92440" y="3794760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092440" y="4507992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入围策略跑赢股票池等权基准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（年化超额 +5.97% ~ +10.14%）；monkey_43 1/3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846320"/>
            <a:ext cx="11183112" cy="1481328"/>
          </a:xfrm>
          <a:prstGeom prst="rect">
            <a:avLst/>
          </a:prstGeom>
          <a:solidFill>
            <a:srgbClr val="FDF6E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937760"/>
            <a:ext cx="10725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披露（不得省略）：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污染披露：本数据集 2023 年之后的区间在早期探索阶段曾被整体检视过一次（2026-09-24 试跑开封，对当时 6 个旧策略揭晓过 2023-01-03 ~ 2026-09-21 的表现）；对本轮新策略数据未用于搜索，但设计者已知这段行情的大致性质（rules.md 第 1 节）。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时间顺序：第 7 步开封在前（13:14:35）、第 5 步邻域补检在后（13:43:38Z~13:59:35Z）；补检未使用任何封存期收益挑选或替换对象，12 条开封期行只按行数计入 N、指标数值未读取；封存结果只引用既有 reports/sealed_result.md。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边界修正：组合封存终点曾越过数据截止，当日修复并重跑一次（AI 13.24%→13.48%、monkey_43 10.54%→10.72%，缺陷版留存）——不得笼统写「所有对象只跑一次、无重跑」；策略层回测仍为每对象一次（12 行 = 6 回测 + 6 ch14 补算）。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以上为一次性样本外结果，不构成对未来收益的承诺；搜索期组合层不可用（见第 11 页）。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来源：reports/sealed_result.md（第 7 步定稿，commit bd0d2874）；补检时序见 after/count_diff.json / 补检核对.md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组合层两段检验：底仓 60% + 卫星 40%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底仓 = 510300 在 200 日线上方持有、跌破换 518880 黄金；卫星 = 各组 3 入围等权；换腿成本每次 0.075%。搜索期不可用，只画验证期 + 封存期。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766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注：验证期 510300 = 3.04% 由 sealed_result.md 反推（15.54% − 12.50% = 9.84% − 6.80%）；封存期 8.93% 为原文数字。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566928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超额最大回撤（vs 510300）：AI 组合 -9.28% · m43 组合 -8.35%。封存终点边界修正并重跑过一次（AI 13.24%→13.48%、m43 10.54%→10.72%，缺陷版留存 evidence/seal_r7_portfolio_*_winbug.*，属数据边界缺陷而非因结果重跑）；策略层回测每对象一次。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89520" y="1463040"/>
            <a:ext cx="4096512" cy="173736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5727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搜索期：不可用（如实标注）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0" y="1865376"/>
            <a:ext cx="3730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ETF 复权因子（fund_adj）自 2016-01-19 起（510300 首个因子 1.0475 ≠ 1，不可回填 1 伪造），2014~2015 复权收益缺失，官方口径报 NaN。可得子段参考（20160120~20221230，1691 个交易日，非规则口径）：AI 组合绝对年化 11.40% / 回撤 -21.47% / vs 510300 +6.96%；m43 8.95% / -20.39% / +4.50%。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340156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封存期拆解（绝对年化）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3712464"/>
          <a:ext cx="4096512" cy="914400"/>
        </p:xfrm>
        <a:graphic>
          <a:graphicData uri="http://schemas.openxmlformats.org/drawingml/2006/table">
            <a:tbl>
              <a:tblPr/>
              <a:tblGrid>
                <a:gridCol w="3182112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底仓（均线切换）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9.34%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卫星（3 策略等权）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20.60%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m43 卫星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13.63%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510300 买入持有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8.93%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7589520" y="5504688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验证期两组合 vs 510300 年化超额：AI +12.50% · m43 +6.80%（超额回撤 -10.65% / -10.31%）。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来源：data/portfolio_AI.json / portfolio_monkey_43.json；reports/portfolio_AI.md / portfolio_monkey_43.md / sealed_result.md 第 2 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结论与局限（补检后口径）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2E50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严格达标 0：A=0、B=0、monkey_43=0、农场 20 只合计=0（补检后重判为实际终判）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样本外区分明确：封存期 AI 3/3 跑赢股票池等权基准（年化超额 +5.97%~+10.14%），monkey_43 1/3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组合层达标：AI 组合绝对年化 13.48%、绝对回撤 -11.38%、vs 510300 年化超额 +4.55%；m43 组合 10.72%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对照成立：搜索期中位年化超额 AI +9.4% vs 猴子 -10%，分布几乎不重叠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流程可复现：23,904 行台账只追加（字节级前缀验证）、补检 746/746 恢复、独立审核 9 项全确认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2984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700784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无人过全部八层：L8 DSR 按组 N（AI=4,637）折扣后不显著，高 IR 部分是多次选择的结果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风格单一：AI 三席同族（日超额相关 0.80~0.89），风格反转时同向暴露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容量小：封存期容量中位 AI 三席 983~1,223 万元（不含冲击成本）；年换手 6.8~8.1 倍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样本外仅 424 个交易日、一段行情；「入围≠达标」必须随数字披露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搜索期组合层因 ETF 复权因子缺口不可用；污染披露见第 10 页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已知缺陷如实披露：恢复主循环曾读旧 pending=744 提前收口（判定未漏任务、不影响结果）；组合封存终点边界修正重跑一次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864608"/>
            <a:ext cx="11183112" cy="0"/>
          </a:xfrm>
          <a:prstGeom prst="line">
            <a:avLst/>
          </a:prstGeom>
          <a:noFill/>
          <a:ln w="12700">
            <a:solidFill>
              <a:srgbClr val="2E50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下一步（手册第 8 步）：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 3 个入围策略已写成 paper-arena 信号规格（reports/signals_spec.md，先不接）；补检更新版报告三件套在 reports/supplement/20261018/after/。本报告只陈述事实与口径，不含任何投资建议。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35508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EP010 · 量化研究正式跑 · 2026-10-17 ~ 10-18 · 开封后补检更新版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选股策略六轮搜索与封存期检验（开封后补检更新版）</dc:title>
  <dc:subject>PptxGenJS Presentation</dc:subject>
  <dc:creator>EP010 量化研究</dc:creator>
  <cp:lastModifiedBy>EP010 量化研究</cp:lastModifiedBy>
  <cp:revision>1</cp:revision>
  <dcterms:created xsi:type="dcterms:W3CDTF">2026-10-18T15:04:12Z</dcterms:created>
  <dcterms:modified xsi:type="dcterms:W3CDTF">2026-10-18T15:04:12Z</dcterms:modified>
</cp:coreProperties>
</file>