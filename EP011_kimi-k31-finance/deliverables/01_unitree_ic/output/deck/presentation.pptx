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7_1.xml" ContentType="application/vnd.openxmlformats-officedocument.drawingml.chart+xml"/>
  <Override PartName="/ppt/charts/chart8_1.xml" ContentType="application/vnd.openxmlformats-officedocument.drawingml.chart+xml"/>
  <Override PartName="/ppt/charts/chart9_1.xml" ContentType="application/vnd.openxmlformats-officedocument.drawingml.chart+xml"/>
  <Override PartName="/ppt/charts/chart10_1.xml" ContentType="application/vnd.openxmlformats-officedocument.drawingml.chart+xml"/>
  <Override PartName="/ppt/charts/chart15_1.xml" ContentType="application/vnd.openxmlformats-officedocument.drawingml.chart+xml"/>
  <Override PartName="/ppt/charts/chart16_1.xml" ContentType="application/vnd.openxmlformats-officedocument.drawingml.chart+xml"/>
  <Override PartName="/ppt/charts/chart19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8288000" cy="10287000" type="custom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charts/_rels/chart7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7_1.xlsx"/></Relationships>
</file>

<file path=ppt/charts/_rels/chart8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8_1.xlsx"/></Relationships>
</file>

<file path=ppt/charts/_rels/chart9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9_1.xlsx"/></Relationships>
</file>

<file path=ppt/charts/_rels/chart10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0_1.xlsx"/></Relationships>
</file>

<file path=ppt/charts/_rels/chart15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5_1.xlsx"/></Relationships>
</file>

<file path=ppt/charts/_rels/chart16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6_1.xlsx"/></Relationships>
</file>

<file path=ppt/charts/_rels/chart19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9_1.xlsx"/></Relationships>
</file>

<file path=ppt/charts/chart7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</c:spPr>
          <c:dLbls>
            <c:numFmt formatCode="0%" sourceLinked="0"/>
            <c:txPr>
              <a:bodyPr/>
              <a:lstStyle/>
              <a:p>
                <a:pPr>
                  <a:defRPr sz="1400" noProof="1" b="0" i="0" u="none" strike="noStrike">
                    <a:latin typeface="Arial"/>
                  </a:defRPr>
                </a:pPr>
                <a:endParaRPr lang="en-US" noProof="1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</c:dLbls>
          <c:dPt>
            <c:idx val="0"/>
            <c:spPr>
              <a:solidFill>
                <a:srgbClr val="051C2C"/>
              </a:solidFill>
              <a:ln>
                <a:noFill/>
              </a:ln>
            </c:spPr>
          </c:dPt>
          <c:dPt>
            <c:idx val="1"/>
            <c:spPr>
              <a:solidFill>
                <a:srgbClr val="006BA6"/>
              </a:solidFill>
              <a:ln>
                <a:noFill/>
              </a:ln>
            </c:spPr>
          </c:dPt>
          <c:dPt>
            <c:idx val="2"/>
            <c:spPr>
              <a:solidFill>
                <a:srgbClr val="00A9F4"/>
              </a:solidFill>
              <a:ln>
                <a:noFill/>
              </a:ln>
            </c:spPr>
          </c:dPt>
          <c:dPt>
            <c:idx val="3"/>
            <c:spPr>
              <a:solidFill>
                <a:srgbClr val="B8C4CC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人形</c:v>
                </c:pt>
                <c:pt idx="1">
                  <c:v>四足</c:v>
                </c:pt>
                <c:pt idx="2">
                  <c:v>组件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51.78</c:v>
                </c:pt>
                <c:pt idx="1">
                  <c:v>41.62</c:v>
                </c:pt>
                <c:pt idx="2">
                  <c:v>6.19</c:v>
                </c:pt>
                <c:pt idx="3">
                  <c:v>0.41</c:v>
                </c:pt>
              </c:numCache>
            </c:numRef>
          </c:val>
        </c:ser>
        <c:firstSliceAng val="90"/>
        <c:holeSize val="55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8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销量（台）</c:v>
                </c:pt>
              </c:strCache>
            </c:strRef>
          </c:tx>
          <c:spPr>
            <a:solidFill>
              <a:srgbClr val="1783FF"/>
            </a:solidFill>
          </c:spPr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412</c:v>
                </c:pt>
                <c:pt idx="2">
                  <c:v>5215</c:v>
                </c:pt>
              </c:numCache>
            </c:numRef>
          </c:val>
        </c:ser>
        <c:gapWidth val="82"/>
        <c:overlap val="0"/>
        <c:axId val="1"/>
        <c:axId val="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均价（万元/台）</c:v>
                </c:pt>
              </c:strCache>
            </c:strRef>
          </c:tx>
          <c:spPr>
            <a:solidFill>
              <a:srgbClr val="68B8A8"/>
            </a:solidFill>
            <a:ln w="25400">
              <a:solidFill>
                <a:srgbClr val="68B8A8"/>
              </a:solidFill>
            </a:ln>
          </c:spPr>
          <c:marker>
            <c:symbol val="circle"/>
            <c:size val="6"/>
            <c:spPr>
              <a:solidFill>
                <a:srgbClr val="68B8A8"/>
              </a:solidFill>
              <a:ln w="9525">
                <a:solidFill>
                  <a:srgbClr val="68B8A8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59.34</c:v>
                </c:pt>
                <c:pt idx="1">
                  <c:v>26.04</c:v>
                </c:pt>
                <c:pt idx="2">
                  <c:v>16.64</c:v>
                </c:pt>
              </c:numCache>
            </c:numRef>
          </c:val>
          <c:smooth val="0"/>
        </c:ser>
        <c:axId val="1"/>
        <c:axId val="2"/>
      </c:line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400" noProof="1" b="0" i="0" u="none" strike="noStrike">
                <a:solidFill>
                  <a:srgbClr val="333333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666666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400" noProof="1" b="0" i="0" u="none" strike="noStrike">
              <a:solidFill>
                <a:srgbClr val="666666"/>
              </a:solidFill>
              <a:latin typeface="Arial"/>
            </a:defRPr>
          </a:pPr>
          <a:endParaRPr lang="en-US" noProof="1"/>
        </a:p>
      </c:txPr>
    </c:legend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9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收入占比（%）</c:v>
                </c:pt>
              </c:strCache>
            </c:strRef>
          </c:tx>
          <c:spPr>
            <a:solidFill>
              <a:srgbClr val="1783F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4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科研教育</c:v>
                </c:pt>
                <c:pt idx="1">
                  <c:v>商业消费</c:v>
                </c:pt>
                <c:pt idx="2">
                  <c:v>行业应用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73.6</c:v>
                </c:pt>
                <c:pt idx="1">
                  <c:v>17.39</c:v>
                </c:pt>
                <c:pt idx="2">
                  <c:v>9.01</c:v>
                </c:pt>
              </c:numCache>
            </c:numRef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400" noProof="1" b="0" i="0" u="none" strike="noStrike">
                <a:solidFill>
                  <a:srgbClr val="333333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666666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10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2025出货量</c:v>
                </c:pt>
              </c:strCache>
            </c:strRef>
          </c:tx>
          <c:spPr>
            <a:solidFill>
              <a:srgbClr val="1783FF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4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宇树</c:v>
                </c:pt>
                <c:pt idx="1">
                  <c:v>智元</c:v>
                </c:pt>
                <c:pt idx="2">
                  <c:v>乐聚</c:v>
                </c:pt>
                <c:pt idx="3">
                  <c:v>银河通用</c:v>
                </c:pt>
                <c:pt idx="4">
                  <c:v>众擎</c:v>
                </c:pt>
                <c:pt idx="5">
                  <c:v>海外代表（两家）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5511</c:v>
                </c:pt>
                <c:pt idx="1">
                  <c:v>5168</c:v>
                </c:pt>
                <c:pt idx="2">
                  <c:v>4659</c:v>
                </c:pt>
                <c:pt idx="3">
                  <c:v>800</c:v>
                </c:pt>
                <c:pt idx="4">
                  <c:v>500</c:v>
                </c:pt>
                <c:pt idx="5">
                  <c:v>300</c:v>
                </c:pt>
              </c:numCache>
            </c:numRef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400" noProof="1" b="0" i="0" u="none" strike="noStrike">
                <a:solidFill>
                  <a:srgbClr val="333333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666666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15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营业收入（亿元）</c:v>
                </c:pt>
              </c:strCache>
            </c:strRef>
          </c:tx>
          <c:spPr>
            <a:solidFill>
              <a:srgbClr val="1783F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4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2026H1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1.23</c:v>
                </c:pt>
                <c:pt idx="1">
                  <c:v>1.591</c:v>
                </c:pt>
                <c:pt idx="2">
                  <c:v>3.928</c:v>
                </c:pt>
                <c:pt idx="3">
                  <c:v>16.993</c:v>
                </c:pt>
                <c:pt idx="4">
                  <c:v>11.522</c:v>
                </c:pt>
              </c:numCache>
            </c:numRef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400" noProof="1" b="0" i="0" u="none" strike="noStrike">
                <a:solidFill>
                  <a:srgbClr val="333333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666666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16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综合毛利率（%）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1783FF"/>
              </a:solidFill>
            </a:ln>
          </c:spPr>
          <c:marker>
            <c:symbol val="circle"/>
            <c:size val="6"/>
            <c:spPr>
              <a:solidFill>
                <a:srgbClr val="1783FF"/>
              </a:solidFill>
              <a:ln w="9525">
                <a:solidFill>
                  <a:srgbClr val="1783FF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400" noProof="1" b="0" i="0" u="none" strike="noStrike">
                    <a:latin typeface="Arial"/>
                  </a:defRPr>
                </a:pPr>
                <a:endParaRPr lang="en-US" noProof="1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2026H1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44.94</c:v>
                </c:pt>
                <c:pt idx="1">
                  <c:v>44.75</c:v>
                </c:pt>
                <c:pt idx="2">
                  <c:v>57.22</c:v>
                </c:pt>
                <c:pt idx="3">
                  <c:v>60.44</c:v>
                </c:pt>
                <c:pt idx="4">
                  <c:v>56</c:v>
                </c:pt>
              </c:numCache>
            </c:numRef>
          </c:val>
          <c:smooth val="0"/>
        </c:ser>
        <c:axId val="1"/>
        <c:axId val="2"/>
      </c:line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400" noProof="1" b="0" i="0" u="none" strike="noStrike">
                <a:solidFill>
                  <a:srgbClr val="333333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7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666666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19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收入同比（%）</c:v>
                </c:pt>
              </c:strCache>
            </c:strRef>
          </c:tx>
          <c:spPr>
            <a:solidFill>
              <a:srgbClr val="1783FF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4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太平洋</c:v>
                </c:pt>
                <c:pt idx="1">
                  <c:v>华鑫</c:v>
                </c:pt>
                <c:pt idx="2">
                  <c:v>东吴</c:v>
                </c:pt>
                <c:pt idx="3">
                  <c:v>三家均值</c:v>
                </c:pt>
                <c:pt idx="4">
                  <c:v>2026H1实际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77.4</c:v>
                </c:pt>
                <c:pt idx="1">
                  <c:v>73.6</c:v>
                </c:pt>
                <c:pt idx="2">
                  <c:v>110.6</c:v>
                </c:pt>
                <c:pt idx="3">
                  <c:v>87.2</c:v>
                </c:pt>
                <c:pt idx="4">
                  <c:v>48.54</c:v>
                </c:pt>
              </c:numCache>
            </c:numRef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000000"/>
            </a:solidFill>
          </a:ln>
        </c:spPr>
        <c:txPr>
          <a:bodyPr/>
          <a:lstStyle/>
          <a:p>
            <a:pPr>
              <a:defRPr sz="1400" noProof="1" b="0" i="0" u="none" strike="noStrike">
                <a:solidFill>
                  <a:srgbClr val="333333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666666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_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_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_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_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_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_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9_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/>
          <p:nvPr/>
        </p:nvPicPr>
        <p:blipFill>
          <a:blip r:embed="rId2"/>
          <a:srcRect t="26007" b="2600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</p:pic>
      <p:sp>
        <p:nvSpPr>
          <p:cNvPr id="3" name="cover-dimmer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61422">
              <a:alpha val="90196"/>
            </a:srgbClr>
          </a:solidFill>
          <a:ln>
            <a:noFill/>
          </a:ln>
        </p:spPr>
      </p:sp>
      <p:sp>
        <p:nvSpPr>
          <p:cNvPr id="4" name="cover-panel"/>
          <p:cNvSpPr/>
          <p:nvPr/>
        </p:nvSpPr>
        <p:spPr>
          <a:xfrm>
            <a:off x="838200" y="1651000"/>
            <a:ext cx="10033000" cy="7874000"/>
          </a:xfrm>
          <a:prstGeom prst="rect">
            <a:avLst/>
          </a:prstGeom>
          <a:solidFill>
            <a:srgbClr val="061422">
              <a:alpha val="90196"/>
            </a:srgbClr>
          </a:solidFill>
          <a:ln>
            <a:noFill/>
          </a:ln>
        </p:spPr>
      </p:sp>
      <p:sp>
        <p:nvSpPr>
          <p:cNvPr id="5" name="cover-hairline"/>
          <p:cNvSpPr/>
          <p:nvPr>
            <p:extLst>
              <p:ext uri="{F5677B7D-0D2A-4D9B-9A5C-6D8D7D0E5A5D}">
                <pptd:line encoding="base64url">eyJ2aWV3Qm94IjpbNzkwLDFdLCJwb2ludHMiOiIwLDAuNSA3OTAsMC41IiwiY3VydmUiOiJzaGFycCJ9</pptd:line>
              </p:ext>
            </p:extLst>
          </p:nvPr>
        </p:nvSpPr>
        <p:spPr>
          <a:xfrm>
            <a:off x="838200" y="1651000"/>
            <a:ext cx="10033000" cy="12700"/>
          </a:xfrm>
          <a:custGeom>
            <a:avLst/>
            <a:gdLst/>
            <a:ahLst/>
            <a:cxnLst/>
            <a:rect l="l" t="t" r="r" b="b"/>
            <a:pathLst>
              <a:path w="790" h="1">
                <a:moveTo>
                  <a:pt x="0" y="1"/>
                </a:moveTo>
                <a:lnTo>
                  <a:pt x="790" y="1"/>
                </a:lnTo>
              </a:path>
            </a:pathLst>
          </a:custGeom>
          <a:noFill/>
          <a:ln w="10160">
            <a:solidFill>
              <a:srgbClr val="FFFFFF">
                <a:alpha val="16078"/>
              </a:srgbClr>
            </a:solidFill>
          </a:ln>
        </p:spPr>
      </p:sp>
      <p:sp>
        <p:nvSpPr>
          <p:cNvPr id="6" name="cover-brand"/>
          <p:cNvSpPr txBox="1"/>
          <p:nvPr/>
        </p:nvSpPr>
        <p:spPr>
          <a:xfrm>
            <a:off x="1397000" y="21590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2000"/>
              </a:lnSpc>
            </a:pPr>
            <a:r>
              <a:rPr lang="en-US" sz="2600" noProof="1" b="1">
                <a:solidFill>
                  <a:srgbClr val="FFFFFF"/>
                </a:solidFill>
                <a:latin typeface="Georgia"/>
                <a:ea typeface="Georgia"/>
              </a:rPr>
              <a:t>IC MEMO · 投决会材料</a:t>
            </a:r>
            <a:endParaRPr lang="en-US" sz="2600" noProof="1"/>
          </a:p>
        </p:txBody>
      </p:sp>
      <p:sp>
        <p:nvSpPr>
          <p:cNvPr id="7" name="cover-h1"/>
          <p:cNvSpPr txBox="1"/>
          <p:nvPr/>
        </p:nvSpPr>
        <p:spPr>
          <a:xfrm>
            <a:off x="1397000" y="3238500"/>
            <a:ext cx="8890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2000"/>
              </a:lnSpc>
            </a:pPr>
            <a:r>
              <a:rPr lang="en-US" sz="5600" noProof="1" b="1">
                <a:solidFill>
                  <a:srgbClr val="FFFFFF"/>
                </a:solidFill>
                <a:latin typeface="Georgia"/>
                <a:ea typeface="Georgia"/>
              </a:rPr>
              <a:t>宇树科技 Unitree</a:t>
            </a:r>
            <a:endParaRPr lang="en-US" sz="5600" noProof="1"/>
          </a:p>
        </p:txBody>
      </p:sp>
      <p:sp>
        <p:nvSpPr>
          <p:cNvPr id="8" name="cover-subtitle"/>
          <p:cNvSpPr txBox="1"/>
          <p:nvPr/>
        </p:nvSpPr>
        <p:spPr>
          <a:xfrm>
            <a:off x="1397000" y="4381500"/>
            <a:ext cx="889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800" noProof="1">
                <a:solidFill>
                  <a:srgbClr val="FFFFFF"/>
                </a:solidFill>
                <a:latin typeface="Arial"/>
                <a:ea typeface="Arial"/>
              </a:rPr>
              <a:t>商业化先发已证实；672元所需盈利仍未证实</a:t>
            </a:r>
            <a:endParaRPr lang="en-US" sz="2800" noProof="1"/>
          </a:p>
        </p:txBody>
      </p:sp>
      <p:sp>
        <p:nvSpPr>
          <p:cNvPr id="9" name="cover-stat-110"/>
          <p:cNvSpPr/>
          <p:nvPr/>
        </p:nvSpPr>
        <p:spPr>
          <a:xfrm>
            <a:off x="1397000" y="6121400"/>
            <a:ext cx="2032000" cy="1193800"/>
          </a:xfrm>
          <a:prstGeom prst="rect">
            <a:avLst/>
          </a:prstGeom>
          <a:solidFill>
            <a:srgbClr val="FFFFFF">
              <a:alpha val="10980"/>
            </a:srgbClr>
          </a:solidFill>
          <a:ln>
            <a:noFill/>
          </a:ln>
        </p:spPr>
      </p:sp>
      <p:sp>
        <p:nvSpPr>
          <p:cNvPr id="10" name="cover-label-110"/>
          <p:cNvSpPr txBox="1"/>
          <p:nvPr/>
        </p:nvSpPr>
        <p:spPr>
          <a:xfrm>
            <a:off x="1549400" y="6261100"/>
            <a:ext cx="172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8FA3B0"/>
                </a:solidFill>
                <a:latin typeface="Arial"/>
                <a:ea typeface="Arial"/>
              </a:rPr>
              <a:t>IC建议</a:t>
            </a:r>
            <a:endParaRPr lang="en-US" sz="1400" noProof="1"/>
          </a:p>
        </p:txBody>
      </p:sp>
      <p:sp>
        <p:nvSpPr>
          <p:cNvPr id="11" name="cover-value-110"/>
          <p:cNvSpPr txBox="1"/>
          <p:nvPr/>
        </p:nvSpPr>
        <p:spPr>
          <a:xfrm>
            <a:off x="1549400" y="66040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Arial"/>
                <a:ea typeface="Arial"/>
              </a:rPr>
              <a:t>不新增仓位</a:t>
            </a:r>
            <a:endParaRPr lang="en-US" sz="2200" noProof="1"/>
          </a:p>
        </p:txBody>
      </p:sp>
      <p:sp>
        <p:nvSpPr>
          <p:cNvPr id="12" name="cover-stat-285"/>
          <p:cNvSpPr/>
          <p:nvPr/>
        </p:nvSpPr>
        <p:spPr>
          <a:xfrm>
            <a:off x="3619500" y="6121400"/>
            <a:ext cx="2032000" cy="1193800"/>
          </a:xfrm>
          <a:prstGeom prst="rect">
            <a:avLst/>
          </a:prstGeom>
          <a:solidFill>
            <a:srgbClr val="FFFFFF">
              <a:alpha val="10980"/>
            </a:srgbClr>
          </a:solidFill>
          <a:ln>
            <a:noFill/>
          </a:ln>
        </p:spPr>
      </p:sp>
      <p:sp>
        <p:nvSpPr>
          <p:cNvPr id="13" name="cover-label-285"/>
          <p:cNvSpPr txBox="1"/>
          <p:nvPr/>
        </p:nvSpPr>
        <p:spPr>
          <a:xfrm>
            <a:off x="3771900" y="6261100"/>
            <a:ext cx="172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8FA3B0"/>
                </a:solidFill>
                <a:latin typeface="Arial"/>
                <a:ea typeface="Arial"/>
              </a:rPr>
              <a:t>收盘价</a:t>
            </a:r>
            <a:endParaRPr lang="en-US" sz="1400" noProof="1"/>
          </a:p>
        </p:txBody>
      </p:sp>
      <p:sp>
        <p:nvSpPr>
          <p:cNvPr id="14" name="cover-value-285"/>
          <p:cNvSpPr txBox="1"/>
          <p:nvPr/>
        </p:nvSpPr>
        <p:spPr>
          <a:xfrm>
            <a:off x="3771900" y="66040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Arial"/>
                <a:ea typeface="Arial"/>
              </a:rPr>
              <a:t>672元</a:t>
            </a:r>
            <a:endParaRPr lang="en-US" sz="2200" noProof="1"/>
          </a:p>
        </p:txBody>
      </p:sp>
      <p:sp>
        <p:nvSpPr>
          <p:cNvPr id="15" name="cover-stat-460"/>
          <p:cNvSpPr/>
          <p:nvPr/>
        </p:nvSpPr>
        <p:spPr>
          <a:xfrm>
            <a:off x="5842000" y="6121400"/>
            <a:ext cx="2032000" cy="1193800"/>
          </a:xfrm>
          <a:prstGeom prst="rect">
            <a:avLst/>
          </a:prstGeom>
          <a:solidFill>
            <a:srgbClr val="FFFFFF">
              <a:alpha val="10980"/>
            </a:srgbClr>
          </a:solidFill>
          <a:ln>
            <a:noFill/>
          </a:ln>
        </p:spPr>
      </p:sp>
      <p:sp>
        <p:nvSpPr>
          <p:cNvPr id="16" name="cover-label-460"/>
          <p:cNvSpPr txBox="1"/>
          <p:nvPr/>
        </p:nvSpPr>
        <p:spPr>
          <a:xfrm>
            <a:off x="5994400" y="6261100"/>
            <a:ext cx="172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8FA3B0"/>
                </a:solidFill>
                <a:latin typeface="Arial"/>
                <a:ea typeface="Arial"/>
              </a:rPr>
              <a:t>总市值</a:t>
            </a:r>
            <a:endParaRPr lang="en-US" sz="1400" noProof="1"/>
          </a:p>
        </p:txBody>
      </p:sp>
      <p:sp>
        <p:nvSpPr>
          <p:cNvPr id="17" name="cover-value-460"/>
          <p:cNvSpPr txBox="1"/>
          <p:nvPr/>
        </p:nvSpPr>
        <p:spPr>
          <a:xfrm>
            <a:off x="5994400" y="66040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Arial"/>
                <a:ea typeface="Arial"/>
              </a:rPr>
              <a:t>2718亿元</a:t>
            </a:r>
            <a:endParaRPr lang="en-US" sz="2200" noProof="1"/>
          </a:p>
        </p:txBody>
      </p:sp>
      <p:sp>
        <p:nvSpPr>
          <p:cNvPr id="18" name="cover-stat-635"/>
          <p:cNvSpPr/>
          <p:nvPr/>
        </p:nvSpPr>
        <p:spPr>
          <a:xfrm>
            <a:off x="8064500" y="6121400"/>
            <a:ext cx="2032000" cy="1193800"/>
          </a:xfrm>
          <a:prstGeom prst="rect">
            <a:avLst/>
          </a:prstGeom>
          <a:solidFill>
            <a:srgbClr val="FFFFFF">
              <a:alpha val="10980"/>
            </a:srgbClr>
          </a:solidFill>
          <a:ln>
            <a:noFill/>
          </a:ln>
        </p:spPr>
      </p:sp>
      <p:sp>
        <p:nvSpPr>
          <p:cNvPr id="19" name="cover-label-635"/>
          <p:cNvSpPr txBox="1"/>
          <p:nvPr/>
        </p:nvSpPr>
        <p:spPr>
          <a:xfrm>
            <a:off x="8216900" y="6261100"/>
            <a:ext cx="172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8FA3B0"/>
                </a:solidFill>
                <a:latin typeface="Arial"/>
                <a:ea typeface="Arial"/>
              </a:rPr>
              <a:t>资料截止</a:t>
            </a:r>
            <a:endParaRPr lang="en-US" sz="1400" noProof="1"/>
          </a:p>
        </p:txBody>
      </p:sp>
      <p:sp>
        <p:nvSpPr>
          <p:cNvPr id="20" name="cover-value-635"/>
          <p:cNvSpPr txBox="1"/>
          <p:nvPr/>
        </p:nvSpPr>
        <p:spPr>
          <a:xfrm>
            <a:off x="8216900" y="6604000"/>
            <a:ext cx="1727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Arial"/>
                <a:ea typeface="Arial"/>
              </a:rPr>
              <a:t>10月26日</a:t>
            </a:r>
            <a:endParaRPr lang="en-US" sz="2200" noProof="1"/>
          </a:p>
        </p:txBody>
      </p:sp>
      <p:sp>
        <p:nvSpPr>
          <p:cNvPr id="21" name="cover-date"/>
          <p:cNvSpPr txBox="1"/>
          <p:nvPr/>
        </p:nvSpPr>
        <p:spPr>
          <a:xfrm>
            <a:off x="1397000" y="78105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5000"/>
              </a:lnSpc>
            </a:pPr>
            <a:r>
              <a:rPr lang="en-US" sz="1800" noProof="1">
                <a:solidFill>
                  <a:srgbClr val="D9E4EA"/>
                </a:solidFill>
                <a:latin typeface="Arial"/>
                <a:ea typeface="Arial"/>
              </a:rPr>
              <a:t>688836.SH · 人形与四足机器人 · 2026年10月</a:t>
            </a:r>
            <a:endParaRPr lang="en-US" sz="1800" noProof="1"/>
          </a:p>
        </p:txBody>
      </p:sp>
      <p:sp>
        <p:nvSpPr>
          <p:cNvPr id="22" name="cover-disclaimer"/>
          <p:cNvSpPr txBox="1"/>
          <p:nvPr/>
        </p:nvSpPr>
        <p:spPr>
          <a:xfrm>
            <a:off x="1397000" y="8763000"/>
            <a:ext cx="876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400" noProof="1">
                <a:solidFill>
                  <a:srgbClr val="D9E4EA"/>
                </a:solidFill>
                <a:latin typeface="Arial"/>
                <a:ea typeface="Arial"/>
              </a:rPr>
              <a:t>基于5份不同机构完整研报及公司、交易所原始披露；区分已披露业绩、机构预测与团队情景。仅供投委会讨论，不构成个性化投资建议。</a:t>
            </a:r>
            <a:endParaRPr lang="en-US" sz="14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One › The Ask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672元对应2718亿元市值，当前建议不新增仓位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先发优势值得跟踪，但价格要求盈利、估值与商业化同时兑现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dec-h"/>
          <p:cNvSpPr txBox="1"/>
          <p:nvPr/>
        </p:nvSpPr>
        <p:spPr>
          <a:xfrm>
            <a:off x="825500" y="19431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IC决策：公司质量与买入价格分开表决</a:t>
            </a:r>
            <a:endParaRPr lang="en-US" sz="1800" noProof="1"/>
          </a:p>
        </p:txBody>
      </p:sp>
      <p:sp>
        <p:nvSpPr>
          <p:cNvPr id="7" name="dec-main-bg"/>
          <p:cNvSpPr/>
          <p:nvPr/>
        </p:nvSpPr>
        <p:spPr>
          <a:xfrm>
            <a:off x="800100" y="2413000"/>
            <a:ext cx="7493000" cy="2794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8" name="dec-main-title"/>
          <p:cNvSpPr txBox="1"/>
          <p:nvPr/>
        </p:nvSpPr>
        <p:spPr>
          <a:xfrm>
            <a:off x="1003300" y="2540000"/>
            <a:ext cx="7086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建议：当前不新增仓位</a:t>
            </a:r>
            <a:endParaRPr lang="en-US" sz="1600" noProof="1"/>
          </a:p>
        </p:txBody>
      </p:sp>
      <p:sp>
        <p:nvSpPr>
          <p:cNvPr id="9" name="dec-main-body"/>
          <p:cNvSpPr txBox="1"/>
          <p:nvPr/>
        </p:nvSpPr>
        <p:spPr>
          <a:xfrm>
            <a:off x="1003300" y="2921000"/>
            <a:ext cx="7086600" cy="218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672元对应2718亿元市值。三家机构2028年归母净利润预测均值为16.72亿元，即使给予60x退出PE，情景价值约248元/股。保留观察名单，等待业绩或价格提供安全边际。</a:t>
            </a:r>
            <a:endParaRPr lang="en-US" sz="1600" noProof="1"/>
          </a:p>
        </p:txBody>
      </p:sp>
      <p:sp>
        <p:nvSpPr>
          <p:cNvPr id="10" name="dec-pe-bg"/>
          <p:cNvSpPr/>
          <p:nvPr/>
        </p:nvSpPr>
        <p:spPr>
          <a:xfrm>
            <a:off x="8610600" y="2413000"/>
            <a:ext cx="40386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" name="dec-pe-label"/>
          <p:cNvSpPr txBox="1"/>
          <p:nvPr/>
        </p:nvSpPr>
        <p:spPr>
          <a:xfrm>
            <a:off x="8813800" y="2590800"/>
            <a:ext cx="3632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公司公告口径</a:t>
            </a:r>
            <a:endParaRPr lang="en-US" sz="1400" noProof="1"/>
          </a:p>
        </p:txBody>
      </p:sp>
      <p:sp>
        <p:nvSpPr>
          <p:cNvPr id="12" name="dec-pe-value"/>
          <p:cNvSpPr txBox="1"/>
          <p:nvPr/>
        </p:nvSpPr>
        <p:spPr>
          <a:xfrm>
            <a:off x="8813800" y="2946400"/>
            <a:ext cx="3632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465.22x</a:t>
            </a:r>
            <a:endParaRPr lang="en-US" sz="3600" noProof="1"/>
          </a:p>
        </p:txBody>
      </p:sp>
      <p:sp>
        <p:nvSpPr>
          <p:cNvPr id="13" name="dec-pe-note"/>
          <p:cNvSpPr txBox="1"/>
          <p:nvPr/>
        </p:nvSpPr>
        <p:spPr>
          <a:xfrm>
            <a:off x="8813800" y="3683000"/>
            <a:ext cx="3632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截至2026-10-26滚动PE；通用设备制造业38.54x。</a:t>
            </a:r>
            <a:endParaRPr lang="en-US" sz="1600" noProof="1"/>
          </a:p>
        </p:txBody>
      </p:sp>
      <p:sp>
        <p:nvSpPr>
          <p:cNvPr id="14" name="dec-mean-bg"/>
          <p:cNvSpPr/>
          <p:nvPr/>
        </p:nvSpPr>
        <p:spPr>
          <a:xfrm>
            <a:off x="12877800" y="2413000"/>
            <a:ext cx="46101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dec-mean-label"/>
          <p:cNvSpPr txBox="1"/>
          <p:nvPr/>
        </p:nvSpPr>
        <p:spPr>
          <a:xfrm>
            <a:off x="13081000" y="2590800"/>
            <a:ext cx="4203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三家预测均值</a:t>
            </a:r>
            <a:endParaRPr lang="en-US" sz="1400" noProof="1"/>
          </a:p>
        </p:txBody>
      </p:sp>
      <p:sp>
        <p:nvSpPr>
          <p:cNvPr id="16" name="dec-mean-value"/>
          <p:cNvSpPr txBox="1"/>
          <p:nvPr/>
        </p:nvSpPr>
        <p:spPr>
          <a:xfrm>
            <a:off x="13081000" y="2946400"/>
            <a:ext cx="42037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16.72亿元</a:t>
            </a:r>
            <a:endParaRPr lang="en-US" sz="3600" noProof="1"/>
          </a:p>
        </p:txBody>
      </p:sp>
      <p:sp>
        <p:nvSpPr>
          <p:cNvPr id="17" name="dec-mean-note"/>
          <p:cNvSpPr txBox="1"/>
          <p:nvPr/>
        </p:nvSpPr>
        <p:spPr>
          <a:xfrm>
            <a:off x="13081000" y="3683000"/>
            <a:ext cx="42037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2028E归母净利润；当前市值对应约162.6x。</a:t>
            </a:r>
            <a:endParaRPr lang="en-US" sz="1600" noProof="1"/>
          </a:p>
        </p:txBody>
      </p:sp>
      <p:sp>
        <p:nvSpPr>
          <p:cNvPr id="18" name="dec-cond-h"/>
          <p:cNvSpPr txBox="1"/>
          <p:nvPr/>
        </p:nvSpPr>
        <p:spPr>
          <a:xfrm>
            <a:off x="825500" y="57150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重新评估的三个前置条件</a:t>
            </a:r>
            <a:endParaRPr lang="en-US" sz="1800" noProof="1"/>
          </a:p>
        </p:txBody>
      </p:sp>
      <p:sp>
        <p:nvSpPr>
          <p:cNvPr id="19" name="dec-cond-b0"/>
          <p:cNvSpPr/>
          <p:nvPr/>
        </p:nvSpPr>
        <p:spPr>
          <a:xfrm>
            <a:off x="825500" y="6311900"/>
            <a:ext cx="101600" cy="1016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</p:sp>
      <p:sp>
        <p:nvSpPr>
          <p:cNvPr id="20" name="dec-cond-t0"/>
          <p:cNvSpPr txBox="1"/>
          <p:nvPr/>
        </p:nvSpPr>
        <p:spPr>
          <a:xfrm>
            <a:off x="1054100" y="6223000"/>
            <a:ext cx="157734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2026H2及后续收入证明全年预测所需再加速，且扣非利润与经营现金流同步改善。</a:t>
            </a:r>
            <a:endParaRPr lang="en-US" sz="1600" noProof="1"/>
          </a:p>
        </p:txBody>
      </p:sp>
      <p:sp>
        <p:nvSpPr>
          <p:cNvPr id="21" name="dec-cond-b1"/>
          <p:cNvSpPr/>
          <p:nvPr/>
        </p:nvSpPr>
        <p:spPr>
          <a:xfrm>
            <a:off x="825500" y="7226300"/>
            <a:ext cx="101600" cy="1016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</p:sp>
      <p:sp>
        <p:nvSpPr>
          <p:cNvPr id="22" name="dec-cond-t1"/>
          <p:cNvSpPr txBox="1"/>
          <p:nvPr/>
        </p:nvSpPr>
        <p:spPr>
          <a:xfrm>
            <a:off x="1054100" y="7137400"/>
            <a:ext cx="157734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生产力场景披露从“出货/演示”升级为可复购的连续作业数据，包括任务成功率、开机时长与客户ROI。</a:t>
            </a:r>
            <a:endParaRPr lang="en-US" sz="1600" noProof="1"/>
          </a:p>
        </p:txBody>
      </p:sp>
      <p:sp>
        <p:nvSpPr>
          <p:cNvPr id="23" name="dec-cond-b2"/>
          <p:cNvSpPr/>
          <p:nvPr/>
        </p:nvSpPr>
        <p:spPr>
          <a:xfrm>
            <a:off x="825500" y="8140700"/>
            <a:ext cx="101600" cy="1016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</p:sp>
      <p:sp>
        <p:nvSpPr>
          <p:cNvPr id="24" name="dec-cond-t2"/>
          <p:cNvSpPr txBox="1"/>
          <p:nvPr/>
        </p:nvSpPr>
        <p:spPr>
          <a:xfrm>
            <a:off x="1054100" y="8051800"/>
            <a:ext cx="157734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估值回到可讨论区间，或盈利预测显著上修；当前三种情景均不提供正收益基础。</a:t>
            </a:r>
            <a:endParaRPr lang="en-US" sz="1600" noProof="1"/>
          </a:p>
        </p:txBody>
      </p:sp>
      <p:sp>
        <p:nvSpPr>
          <p:cNvPr id="25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市值=672元×4.0446434亿股。2. 太平洋/华鑫/东吴2028E预测均值16.717亿元，团队60x情景计算非目标价。3. 公司《股票交易异常波动公告》2026-10-27（10月26日晚公开）PDF第1、3页。</a:t>
            </a:r>
            <a:endParaRPr lang="en-US" sz="1200" noProof="1"/>
          </a:p>
        </p:txBody>
      </p:sp>
      <p:sp>
        <p:nvSpPr>
          <p:cNvPr id="26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7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8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9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02</a:t>
            </a:r>
            <a:endParaRPr lang="en-US" sz="1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One › The Call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2025年收入16.99亿元与出货5511台，难抵2026H1扣非下降19.34%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投资判断以盈利质量和生产力场景为约束，不把行业空间直接折现为公司利润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kpi63-bg"/>
          <p:cNvSpPr/>
          <p:nvPr/>
        </p:nvSpPr>
        <p:spPr>
          <a:xfrm>
            <a:off x="800100" y="1968500"/>
            <a:ext cx="40767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kpi63-label"/>
          <p:cNvSpPr txBox="1"/>
          <p:nvPr/>
        </p:nvSpPr>
        <p:spPr>
          <a:xfrm>
            <a:off x="1003300" y="2146300"/>
            <a:ext cx="36703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2025A收入</a:t>
            </a:r>
            <a:endParaRPr lang="en-US" sz="1400" noProof="1"/>
          </a:p>
        </p:txBody>
      </p:sp>
      <p:sp>
        <p:nvSpPr>
          <p:cNvPr id="8" name="kpi63-value"/>
          <p:cNvSpPr txBox="1"/>
          <p:nvPr/>
        </p:nvSpPr>
        <p:spPr>
          <a:xfrm>
            <a:off x="1003300" y="2501900"/>
            <a:ext cx="3670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16.99亿元</a:t>
            </a:r>
            <a:endParaRPr lang="en-US" sz="3600" noProof="1"/>
          </a:p>
        </p:txBody>
      </p:sp>
      <p:sp>
        <p:nvSpPr>
          <p:cNvPr id="9" name="kpi63-note"/>
          <p:cNvSpPr txBox="1"/>
          <p:nvPr/>
        </p:nvSpPr>
        <p:spPr>
          <a:xfrm>
            <a:off x="1003300" y="3238500"/>
            <a:ext cx="3670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同比+332.64%，经审计。</a:t>
            </a:r>
            <a:endParaRPr lang="en-US" sz="1600" noProof="1"/>
          </a:p>
        </p:txBody>
      </p:sp>
      <p:sp>
        <p:nvSpPr>
          <p:cNvPr id="10" name="kpi394-bg"/>
          <p:cNvSpPr/>
          <p:nvPr/>
        </p:nvSpPr>
        <p:spPr>
          <a:xfrm>
            <a:off x="5003800" y="1968500"/>
            <a:ext cx="40767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" name="kpi394-label"/>
          <p:cNvSpPr txBox="1"/>
          <p:nvPr/>
        </p:nvSpPr>
        <p:spPr>
          <a:xfrm>
            <a:off x="5207000" y="2146300"/>
            <a:ext cx="36703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2025A人形出货</a:t>
            </a:r>
            <a:endParaRPr lang="en-US" sz="1400" noProof="1"/>
          </a:p>
        </p:txBody>
      </p:sp>
      <p:sp>
        <p:nvSpPr>
          <p:cNvPr id="12" name="kpi394-value"/>
          <p:cNvSpPr txBox="1"/>
          <p:nvPr/>
        </p:nvSpPr>
        <p:spPr>
          <a:xfrm>
            <a:off x="5207000" y="2501900"/>
            <a:ext cx="3670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5511台</a:t>
            </a:r>
            <a:endParaRPr lang="en-US" sz="3600" noProof="1"/>
          </a:p>
        </p:txBody>
      </p:sp>
      <p:sp>
        <p:nvSpPr>
          <p:cNvPr id="13" name="kpi394-note"/>
          <p:cNvSpPr txBox="1"/>
          <p:nvPr/>
        </p:nvSpPr>
        <p:spPr>
          <a:xfrm>
            <a:off x="5207000" y="3238500"/>
            <a:ext cx="3670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出货领先已被披露验证。</a:t>
            </a:r>
            <a:endParaRPr lang="en-US" sz="1600" noProof="1"/>
          </a:p>
        </p:txBody>
      </p:sp>
      <p:sp>
        <p:nvSpPr>
          <p:cNvPr id="14" name="kpi725-bg"/>
          <p:cNvSpPr/>
          <p:nvPr/>
        </p:nvSpPr>
        <p:spPr>
          <a:xfrm>
            <a:off x="9207500" y="1968500"/>
            <a:ext cx="40767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kpi725-label"/>
          <p:cNvSpPr txBox="1"/>
          <p:nvPr/>
        </p:nvSpPr>
        <p:spPr>
          <a:xfrm>
            <a:off x="9410700" y="2146300"/>
            <a:ext cx="36703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2026H1扣非</a:t>
            </a:r>
            <a:endParaRPr lang="en-US" sz="1400" noProof="1"/>
          </a:p>
        </p:txBody>
      </p:sp>
      <p:sp>
        <p:nvSpPr>
          <p:cNvPr id="16" name="kpi725-value"/>
          <p:cNvSpPr txBox="1"/>
          <p:nvPr/>
        </p:nvSpPr>
        <p:spPr>
          <a:xfrm>
            <a:off x="9410700" y="2501900"/>
            <a:ext cx="3670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−19.34%</a:t>
            </a:r>
            <a:endParaRPr lang="en-US" sz="3600" noProof="1"/>
          </a:p>
        </p:txBody>
      </p:sp>
      <p:sp>
        <p:nvSpPr>
          <p:cNvPr id="17" name="kpi725-note"/>
          <p:cNvSpPr txBox="1"/>
          <p:nvPr/>
        </p:nvSpPr>
        <p:spPr>
          <a:xfrm>
            <a:off x="9410700" y="3238500"/>
            <a:ext cx="3670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实际2.44亿元，未经审计。</a:t>
            </a:r>
            <a:endParaRPr lang="en-US" sz="1600" noProof="1"/>
          </a:p>
        </p:txBody>
      </p:sp>
      <p:sp>
        <p:nvSpPr>
          <p:cNvPr id="18" name="kpi1056-bg"/>
          <p:cNvSpPr/>
          <p:nvPr/>
        </p:nvSpPr>
        <p:spPr>
          <a:xfrm>
            <a:off x="13411200" y="1968500"/>
            <a:ext cx="40767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" name="kpi1056-label"/>
          <p:cNvSpPr txBox="1"/>
          <p:nvPr/>
        </p:nvSpPr>
        <p:spPr>
          <a:xfrm>
            <a:off x="13614400" y="2146300"/>
            <a:ext cx="36703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2026H1毛利率</a:t>
            </a:r>
            <a:endParaRPr lang="en-US" sz="1400" noProof="1"/>
          </a:p>
        </p:txBody>
      </p:sp>
      <p:sp>
        <p:nvSpPr>
          <p:cNvPr id="20" name="kpi1056-value"/>
          <p:cNvSpPr txBox="1"/>
          <p:nvPr/>
        </p:nvSpPr>
        <p:spPr>
          <a:xfrm>
            <a:off x="13614400" y="2501900"/>
            <a:ext cx="3670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56.0%</a:t>
            </a:r>
            <a:endParaRPr lang="en-US" sz="3600" noProof="1"/>
          </a:p>
        </p:txBody>
      </p:sp>
      <p:sp>
        <p:nvSpPr>
          <p:cNvPr id="21" name="kpi1056-note"/>
          <p:cNvSpPr txBox="1"/>
          <p:nvPr/>
        </p:nvSpPr>
        <p:spPr>
          <a:xfrm>
            <a:off x="13614400" y="3238500"/>
            <a:ext cx="3670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较2025全年60.44%回落。</a:t>
            </a:r>
            <a:endParaRPr lang="en-US" sz="1600" noProof="1"/>
          </a:p>
        </p:txBody>
      </p:sp>
      <p:sp>
        <p:nvSpPr>
          <p:cNvPr id="22" name="thesis-h"/>
          <p:cNvSpPr txBox="1"/>
          <p:nvPr/>
        </p:nvSpPr>
        <p:spPr>
          <a:xfrm>
            <a:off x="825500" y="4572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核心投资判断：三项已证实，三项待证实</a:t>
            </a:r>
            <a:endParaRPr lang="en-US" sz="1800" noProof="1"/>
          </a:p>
        </p:txBody>
      </p:sp>
      <p:sp>
        <p:nvSpPr>
          <p:cNvPr id="23" name="proven-bg"/>
          <p:cNvSpPr/>
          <p:nvPr/>
        </p:nvSpPr>
        <p:spPr>
          <a:xfrm>
            <a:off x="800100" y="5080000"/>
            <a:ext cx="8001000" cy="330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4" name="proven-title"/>
          <p:cNvSpPr txBox="1"/>
          <p:nvPr/>
        </p:nvSpPr>
        <p:spPr>
          <a:xfrm>
            <a:off x="1003300" y="5207000"/>
            <a:ext cx="7594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已证实：商业化先发</a:t>
            </a:r>
            <a:endParaRPr lang="en-US" sz="1600" noProof="1"/>
          </a:p>
        </p:txBody>
      </p:sp>
      <p:sp>
        <p:nvSpPr>
          <p:cNvPr id="25" name="proven-body"/>
          <p:cNvSpPr txBox="1"/>
          <p:nvPr/>
        </p:nvSpPr>
        <p:spPr>
          <a:xfrm>
            <a:off x="1003300" y="5588000"/>
            <a:ext cx="7594600" cy="269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人形与四足形成双产品平台；2025年人形收入8.68亿元，占主营51.78%。全栈自研与量产降本支持高毛利，2025年经营现金流6.70亿元。</a:t>
            </a:r>
            <a:endParaRPr lang="en-US" sz="1600" noProof="1"/>
          </a:p>
        </p:txBody>
      </p:sp>
      <p:sp>
        <p:nvSpPr>
          <p:cNvPr id="26" name="unproven-bg"/>
          <p:cNvSpPr/>
          <p:nvPr/>
        </p:nvSpPr>
        <p:spPr>
          <a:xfrm>
            <a:off x="9182100" y="5080000"/>
            <a:ext cx="8305800" cy="330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7" name="unproven-title"/>
          <p:cNvSpPr txBox="1"/>
          <p:nvPr/>
        </p:nvSpPr>
        <p:spPr>
          <a:xfrm>
            <a:off x="9385300" y="5207000"/>
            <a:ext cx="789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待证实：持续生产力价值</a:t>
            </a:r>
            <a:endParaRPr lang="en-US" sz="1600" noProof="1"/>
          </a:p>
        </p:txBody>
      </p:sp>
      <p:sp>
        <p:nvSpPr>
          <p:cNvPr id="28" name="unproven-body"/>
          <p:cNvSpPr txBox="1"/>
          <p:nvPr/>
        </p:nvSpPr>
        <p:spPr>
          <a:xfrm>
            <a:off x="9385300" y="5588000"/>
            <a:ext cx="7899400" cy="269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2025年1—9月人形科研教育收入占73.60%，明确制造/巡检/物流收入0.157亿元。模型基准分与出货领先尚未转化为可核验的复购、连续作业和客户ROI。</a:t>
            </a:r>
            <a:endParaRPr lang="en-US" sz="1600" noProof="1"/>
          </a:p>
        </p:txBody>
      </p:sp>
      <p:sp>
        <p:nvSpPr>
          <p:cNvPr id="29" name="thesis-bar"/>
          <p:cNvSpPr/>
          <p:nvPr>
            <p:extLst>
              <p:ext uri="{F5677B7D-0D2A-4D9B-9A5C-6D8D7D0E5A5D}">
                <pptd:line encoding="base64url">eyJ2aWV3Qm94IjpbMTMxNCwxXSwicG9pbnRzIjoiMCwwLjUgMTMxNCwwLjUiLCJjdXJ2ZSI6InNoYXJwIn0</pptd:line>
              </p:ext>
            </p:extLst>
          </p:nvPr>
        </p:nvSpPr>
        <p:spPr>
          <a:xfrm>
            <a:off x="800100" y="8636000"/>
            <a:ext cx="16687800" cy="1270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1"/>
                </a:moveTo>
                <a:lnTo>
                  <a:pt x="1314" y="1"/>
                </a:lnTo>
              </a:path>
            </a:pathLst>
          </a:custGeom>
          <a:noFill/>
          <a:ln w="10160">
            <a:solidFill>
              <a:srgbClr val="051C2C"/>
            </a:solidFill>
          </a:ln>
        </p:spPr>
      </p:sp>
      <p:sp>
        <p:nvSpPr>
          <p:cNvPr id="30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公司招股书注册稿2026-06-02 PDF第161—163、199—201页。2. 公司上市公告书2026-08-18 PDF第36—37页。3. 华鑫《茁壮成长的中国树》2026-09-19 PDF第2页。</a:t>
            </a:r>
            <a:endParaRPr lang="en-US" sz="1200" noProof="1"/>
          </a:p>
        </p:txBody>
      </p:sp>
      <p:sp>
        <p:nvSpPr>
          <p:cNvPr id="31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2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33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4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03</a:t>
            </a:r>
            <a:endParaRPr lang="en-US" sz="12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One › Variant Perception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当前估值要求2028年净利润45.3亿元，是三家预测均值的2.7倍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估值分歧可拆成收入兑现、盈利转化和退出倍数三组可观测序列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var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核心分歧：出货领先能否支撑超额盈利与超额估值同时成立</a:t>
            </a:r>
            <a:endParaRPr lang="en-US" sz="1800" noProof="1"/>
          </a:p>
        </p:txBody>
      </p:sp>
      <p:sp>
        <p:nvSpPr>
          <p:cNvPr id="7" name="consensus-bg"/>
          <p:cNvSpPr/>
          <p:nvPr/>
        </p:nvSpPr>
        <p:spPr>
          <a:xfrm>
            <a:off x="800100" y="2413000"/>
            <a:ext cx="5207000" cy="533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" name="consensus-title"/>
          <p:cNvSpPr txBox="1"/>
          <p:nvPr/>
        </p:nvSpPr>
        <p:spPr>
          <a:xfrm>
            <a:off x="1003300" y="2540000"/>
            <a:ext cx="4800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市场共识</a:t>
            </a:r>
            <a:endParaRPr lang="en-US" sz="1600" noProof="1"/>
          </a:p>
        </p:txBody>
      </p:sp>
      <p:sp>
        <p:nvSpPr>
          <p:cNvPr id="9" name="consensus-body"/>
          <p:cNvSpPr txBox="1"/>
          <p:nvPr/>
        </p:nvSpPr>
        <p:spPr>
          <a:xfrm>
            <a:off x="1003300" y="2921000"/>
            <a:ext cx="4800600" cy="472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四足与人形出货领先、全栈自研和具身智能远期空间，足以支撑长期高溢价。券商2026—2028年预测普遍保持50%以上收入增长。</a:t>
            </a:r>
            <a:endParaRPr lang="en-US" sz="1600" noProof="1"/>
          </a:p>
        </p:txBody>
      </p:sp>
      <p:sp>
        <p:nvSpPr>
          <p:cNvPr id="10" name="ours-bg"/>
          <p:cNvSpPr/>
          <p:nvPr/>
        </p:nvSpPr>
        <p:spPr>
          <a:xfrm>
            <a:off x="6286500" y="2413000"/>
            <a:ext cx="5207000" cy="5334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1" name="ours-title"/>
          <p:cNvSpPr txBox="1"/>
          <p:nvPr/>
        </p:nvSpPr>
        <p:spPr>
          <a:xfrm>
            <a:off x="6489700" y="2540000"/>
            <a:ext cx="4800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我们的判断</a:t>
            </a:r>
            <a:endParaRPr lang="en-US" sz="1600" noProof="1"/>
          </a:p>
        </p:txBody>
      </p:sp>
      <p:sp>
        <p:nvSpPr>
          <p:cNvPr id="12" name="ours-body"/>
          <p:cNvSpPr txBox="1"/>
          <p:nvPr/>
        </p:nvSpPr>
        <p:spPr>
          <a:xfrm>
            <a:off x="6489700" y="2921000"/>
            <a:ext cx="4800600" cy="472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当前672元把增长、盈利和估值三个假设叠加到极高水平。即使采用券商盈利预测，退出倍数回归仍可能造成大幅下行。</a:t>
            </a:r>
            <a:endParaRPr lang="en-US" sz="1600" noProof="1"/>
          </a:p>
        </p:txBody>
      </p:sp>
      <p:sp>
        <p:nvSpPr>
          <p:cNvPr id="13" name="settle-bg"/>
          <p:cNvSpPr/>
          <p:nvPr/>
        </p:nvSpPr>
        <p:spPr>
          <a:xfrm>
            <a:off x="11772900" y="2413000"/>
            <a:ext cx="5715000" cy="533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" name="settle-title"/>
          <p:cNvSpPr txBox="1"/>
          <p:nvPr/>
        </p:nvSpPr>
        <p:spPr>
          <a:xfrm>
            <a:off x="11976100" y="2540000"/>
            <a:ext cx="5308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裁决序列</a:t>
            </a:r>
            <a:endParaRPr lang="en-US" sz="1600" noProof="1"/>
          </a:p>
        </p:txBody>
      </p:sp>
      <p:sp>
        <p:nvSpPr>
          <p:cNvPr id="15" name="settle-body"/>
          <p:cNvSpPr txBox="1"/>
          <p:nvPr/>
        </p:nvSpPr>
        <p:spPr>
          <a:xfrm>
            <a:off x="11976100" y="2921000"/>
            <a:ext cx="5308600" cy="472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2026H2收入同比能否达到约87%；扣非利润与现金回款能否同步；人形生产力场景能否披露复购、连续作业与真实客户ROI。</a:t>
            </a:r>
            <a:endParaRPr lang="en-US" sz="1600" noProof="1"/>
          </a:p>
        </p:txBody>
      </p:sp>
      <p:sp>
        <p:nvSpPr>
          <p:cNvPr id="16" name="required-bg"/>
          <p:cNvSpPr/>
          <p:nvPr/>
        </p:nvSpPr>
        <p:spPr>
          <a:xfrm>
            <a:off x="800100" y="8001000"/>
            <a:ext cx="16687800" cy="762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7" name="required-title"/>
          <p:cNvSpPr txBox="1"/>
          <p:nvPr/>
        </p:nvSpPr>
        <p:spPr>
          <a:xfrm>
            <a:off x="1003300" y="8128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估值数学</a:t>
            </a:r>
            <a:endParaRPr lang="en-US" sz="1600" noProof="1"/>
          </a:p>
        </p:txBody>
      </p:sp>
      <p:sp>
        <p:nvSpPr>
          <p:cNvPr id="18" name="required-body"/>
          <p:cNvSpPr txBox="1"/>
          <p:nvPr/>
        </p:nvSpPr>
        <p:spPr>
          <a:xfrm>
            <a:off x="1003300" y="8509000"/>
            <a:ext cx="16281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若2028年给予60x PE，维持672元需要净利润45.30亿元，是三家预测均值16.72亿元的2.71倍。</a:t>
            </a:r>
            <a:endParaRPr lang="en-US" sz="1600" noProof="1"/>
          </a:p>
        </p:txBody>
      </p:sp>
      <p:sp>
        <p:nvSpPr>
          <p:cNvPr id="19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45.30亿元=2718亿元/60x，团队情景，不是盈利预测。2. 三家预测来自太平洋PDF第3页、华鑫PDF第5页、东吴PDF第1页。</a:t>
            </a:r>
            <a:endParaRPr lang="en-US" sz="1200" noProof="1"/>
          </a:p>
        </p:txBody>
      </p:sp>
      <p:sp>
        <p:nvSpPr>
          <p:cNvPr id="20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1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2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3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04</a:t>
            </a:r>
            <a:endParaRPr lang="en-US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One › Evidence Base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5份完整研报给出两种增长路径，拆解证据削弱工业外推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机构预测与公司事实分层处理，所有研报引用均落到原文页码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research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研究材料：5份不同机构完整PDF，正文、表格和图表均纳入</a:t>
            </a:r>
            <a:endParaRPr lang="en-US" sz="1800" noProof="1"/>
          </a:p>
        </p:txBody>
      </p:sp>
      <p:sp>
        <p:nvSpPr>
          <p:cNvPr id="7" name="research-table-h0"/>
          <p:cNvSpPr txBox="1"/>
          <p:nvPr/>
        </p:nvSpPr>
        <p:spPr>
          <a:xfrm>
            <a:off x="825500" y="2413000"/>
            <a:ext cx="309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机构/日期</a:t>
            </a:r>
            <a:endParaRPr lang="en-US" sz="1400" noProof="1"/>
          </a:p>
        </p:txBody>
      </p:sp>
      <p:sp>
        <p:nvSpPr>
          <p:cNvPr id="8" name="research-table-h1"/>
          <p:cNvSpPr txBox="1"/>
          <p:nvPr/>
        </p:nvSpPr>
        <p:spPr>
          <a:xfrm>
            <a:off x="4000500" y="2413000"/>
            <a:ext cx="119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篇幅</a:t>
            </a:r>
            <a:endParaRPr lang="en-US" sz="1400" noProof="1"/>
          </a:p>
        </p:txBody>
      </p:sp>
      <p:sp>
        <p:nvSpPr>
          <p:cNvPr id="9" name="research-table-h2"/>
          <p:cNvSpPr txBox="1"/>
          <p:nvPr/>
        </p:nvSpPr>
        <p:spPr>
          <a:xfrm>
            <a:off x="5270500" y="2413000"/>
            <a:ext cx="817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本deck采用的分歧或证据</a:t>
            </a:r>
            <a:endParaRPr lang="en-US" sz="1400" noProof="1"/>
          </a:p>
        </p:txBody>
      </p:sp>
      <p:sp>
        <p:nvSpPr>
          <p:cNvPr id="10" name="research-table-h3"/>
          <p:cNvSpPr txBox="1"/>
          <p:nvPr/>
        </p:nvSpPr>
        <p:spPr>
          <a:xfrm>
            <a:off x="13525500" y="2413000"/>
            <a:ext cx="3886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引用位置</a:t>
            </a:r>
            <a:endParaRPr lang="en-US" sz="1400" noProof="1"/>
          </a:p>
        </p:txBody>
      </p:sp>
      <p:sp>
        <p:nvSpPr>
          <p:cNvPr id="11" name="research-table-hr0"/>
          <p:cNvSpPr/>
          <p:nvPr>
            <p:extLst>
              <p:ext uri="{F5677B7D-0D2A-4D9B-9A5C-6D8D7D0E5A5D}">
                <pptd:line encoding="base64url">eyJ2aWV3Qm94IjpbMTMxMiwwLjhdLCJwb2ludHMiOiIwLDAuNCAxMzEyLDAuNCIsImN1cnZlIjoic2hhcnAifQ</pptd:line>
              </p:ext>
            </p:extLst>
          </p:nvPr>
        </p:nvSpPr>
        <p:spPr>
          <a:xfrm>
            <a:off x="825500" y="2730500"/>
            <a:ext cx="16662400" cy="10160"/>
          </a:xfrm>
          <a:custGeom>
            <a:avLst/>
            <a:gdLst/>
            <a:ahLst/>
            <a:cxnLst/>
            <a:rect l="l" t="t" r="r" b="b"/>
            <a:pathLst>
              <a:path w="1312" h="1">
                <a:moveTo>
                  <a:pt x="0" y="0"/>
                </a:moveTo>
                <a:lnTo>
                  <a:pt x="1312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12" name="research-table-r0c0"/>
          <p:cNvSpPr txBox="1"/>
          <p:nvPr/>
        </p:nvSpPr>
        <p:spPr>
          <a:xfrm>
            <a:off x="825500" y="2794000"/>
            <a:ext cx="309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太平洋 2026-10-19</a:t>
            </a:r>
            <a:endParaRPr lang="en-US" sz="1600" noProof="1"/>
          </a:p>
        </p:txBody>
      </p:sp>
      <p:sp>
        <p:nvSpPr>
          <p:cNvPr id="13" name="research-table-r0c1"/>
          <p:cNvSpPr txBox="1"/>
          <p:nvPr/>
        </p:nvSpPr>
        <p:spPr>
          <a:xfrm>
            <a:off x="4000500" y="2794000"/>
            <a:ext cx="1193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32页</a:t>
            </a:r>
            <a:endParaRPr lang="en-US" sz="1600" noProof="1"/>
          </a:p>
        </p:txBody>
      </p:sp>
      <p:sp>
        <p:nvSpPr>
          <p:cNvPr id="14" name="research-table-r0c2"/>
          <p:cNvSpPr txBox="1"/>
          <p:nvPr/>
        </p:nvSpPr>
        <p:spPr>
          <a:xfrm>
            <a:off x="5270500" y="2794000"/>
            <a:ext cx="817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人形2026E收入+70%</a:t>
            </a:r>
            <a:endParaRPr lang="en-US" sz="1600" noProof="1"/>
          </a:p>
        </p:txBody>
      </p:sp>
      <p:sp>
        <p:nvSpPr>
          <p:cNvPr id="15" name="research-table-r0c3"/>
          <p:cNvSpPr txBox="1"/>
          <p:nvPr/>
        </p:nvSpPr>
        <p:spPr>
          <a:xfrm>
            <a:off x="13525500" y="2794000"/>
            <a:ext cx="38862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PDF第3、26—27页</a:t>
            </a:r>
            <a:endParaRPr lang="en-US" sz="1600" noProof="1"/>
          </a:p>
        </p:txBody>
      </p:sp>
      <p:sp>
        <p:nvSpPr>
          <p:cNvPr id="16" name="research-table-hr1"/>
          <p:cNvSpPr/>
          <p:nvPr>
            <p:extLst>
              <p:ext uri="{F5677B7D-0D2A-4D9B-9A5C-6D8D7D0E5A5D}">
                <pptd:line encoding="base64url">eyJ2aWV3Qm94IjpbMTMxMiwwLjhdLCJwb2ludHMiOiIwLDAuNCAxMzEyLDAuNCIsImN1cnZlIjoic2hhcnAifQ</pptd:line>
              </p:ext>
            </p:extLst>
          </p:nvPr>
        </p:nvSpPr>
        <p:spPr>
          <a:xfrm>
            <a:off x="825500" y="3467100"/>
            <a:ext cx="16662400" cy="10160"/>
          </a:xfrm>
          <a:custGeom>
            <a:avLst/>
            <a:gdLst/>
            <a:ahLst/>
            <a:cxnLst/>
            <a:rect l="l" t="t" r="r" b="b"/>
            <a:pathLst>
              <a:path w="1312" h="1">
                <a:moveTo>
                  <a:pt x="0" y="0"/>
                </a:moveTo>
                <a:lnTo>
                  <a:pt x="1312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7" name="research-table-r1c0"/>
          <p:cNvSpPr txBox="1"/>
          <p:nvPr/>
        </p:nvSpPr>
        <p:spPr>
          <a:xfrm>
            <a:off x="825500" y="3530600"/>
            <a:ext cx="309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华鑫 2026-09-19</a:t>
            </a:r>
            <a:endParaRPr lang="en-US" sz="1600" noProof="1"/>
          </a:p>
        </p:txBody>
      </p:sp>
      <p:sp>
        <p:nvSpPr>
          <p:cNvPr id="18" name="research-table-r1c1"/>
          <p:cNvSpPr txBox="1"/>
          <p:nvPr/>
        </p:nvSpPr>
        <p:spPr>
          <a:xfrm>
            <a:off x="4000500" y="3530600"/>
            <a:ext cx="1193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8页</a:t>
            </a:r>
            <a:endParaRPr lang="en-US" sz="1600" noProof="1"/>
          </a:p>
        </p:txBody>
      </p:sp>
      <p:sp>
        <p:nvSpPr>
          <p:cNvPr id="19" name="research-table-r1c2"/>
          <p:cNvSpPr txBox="1"/>
          <p:nvPr/>
        </p:nvSpPr>
        <p:spPr>
          <a:xfrm>
            <a:off x="5270500" y="3530600"/>
            <a:ext cx="817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2026H1毛利56%；全年收入27.56亿</a:t>
            </a:r>
            <a:endParaRPr lang="en-US" sz="1600" noProof="1"/>
          </a:p>
        </p:txBody>
      </p:sp>
      <p:sp>
        <p:nvSpPr>
          <p:cNvPr id="20" name="research-table-r1c3"/>
          <p:cNvSpPr txBox="1"/>
          <p:nvPr/>
        </p:nvSpPr>
        <p:spPr>
          <a:xfrm>
            <a:off x="13525500" y="3530600"/>
            <a:ext cx="38862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PDF第2、5—6页</a:t>
            </a:r>
            <a:endParaRPr lang="en-US" sz="1600" noProof="1"/>
          </a:p>
        </p:txBody>
      </p:sp>
      <p:sp>
        <p:nvSpPr>
          <p:cNvPr id="21" name="research-table-hr2"/>
          <p:cNvSpPr/>
          <p:nvPr>
            <p:extLst>
              <p:ext uri="{F5677B7D-0D2A-4D9B-9A5C-6D8D7D0E5A5D}">
                <pptd:line encoding="base64url">eyJ2aWV3Qm94IjpbMTMxMiwwLjhdLCJwb2ludHMiOiIwLDAuNCAxMzEyLDAuNCIsImN1cnZlIjoic2hhcnAifQ</pptd:line>
              </p:ext>
            </p:extLst>
          </p:nvPr>
        </p:nvSpPr>
        <p:spPr>
          <a:xfrm>
            <a:off x="825500" y="4203700"/>
            <a:ext cx="16662400" cy="10160"/>
          </a:xfrm>
          <a:custGeom>
            <a:avLst/>
            <a:gdLst/>
            <a:ahLst/>
            <a:cxnLst/>
            <a:rect l="l" t="t" r="r" b="b"/>
            <a:pathLst>
              <a:path w="1312" h="1">
                <a:moveTo>
                  <a:pt x="0" y="0"/>
                </a:moveTo>
                <a:lnTo>
                  <a:pt x="1312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2" name="research-table-r2c0"/>
          <p:cNvSpPr txBox="1"/>
          <p:nvPr/>
        </p:nvSpPr>
        <p:spPr>
          <a:xfrm>
            <a:off x="825500" y="4267200"/>
            <a:ext cx="309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华金 2026-08-12</a:t>
            </a:r>
            <a:endParaRPr lang="en-US" sz="1600" noProof="1"/>
          </a:p>
        </p:txBody>
      </p:sp>
      <p:sp>
        <p:nvSpPr>
          <p:cNvPr id="23" name="research-table-r2c1"/>
          <p:cNvSpPr txBox="1"/>
          <p:nvPr/>
        </p:nvSpPr>
        <p:spPr>
          <a:xfrm>
            <a:off x="4000500" y="4267200"/>
            <a:ext cx="1193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12页</a:t>
            </a:r>
            <a:endParaRPr lang="en-US" sz="1600" noProof="1"/>
          </a:p>
        </p:txBody>
      </p:sp>
      <p:sp>
        <p:nvSpPr>
          <p:cNvPr id="24" name="research-table-r2c2"/>
          <p:cNvSpPr txBox="1"/>
          <p:nvPr/>
        </p:nvSpPr>
        <p:spPr>
          <a:xfrm>
            <a:off x="5270500" y="4267200"/>
            <a:ext cx="817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可比公司与募投核对</a:t>
            </a:r>
            <a:endParaRPr lang="en-US" sz="1600" noProof="1"/>
          </a:p>
        </p:txBody>
      </p:sp>
      <p:sp>
        <p:nvSpPr>
          <p:cNvPr id="25" name="research-table-r2c3"/>
          <p:cNvSpPr txBox="1"/>
          <p:nvPr/>
        </p:nvSpPr>
        <p:spPr>
          <a:xfrm>
            <a:off x="13525500" y="4267200"/>
            <a:ext cx="38862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PDF第9—10页</a:t>
            </a:r>
            <a:endParaRPr lang="en-US" sz="1600" noProof="1"/>
          </a:p>
        </p:txBody>
      </p:sp>
      <p:sp>
        <p:nvSpPr>
          <p:cNvPr id="26" name="research-table-hr3"/>
          <p:cNvSpPr/>
          <p:nvPr>
            <p:extLst>
              <p:ext uri="{F5677B7D-0D2A-4D9B-9A5C-6D8D7D0E5A5D}">
                <pptd:line encoding="base64url">eyJ2aWV3Qm94IjpbMTMxMiwwLjhdLCJwb2ludHMiOiIwLDAuNCAxMzEyLDAuNCIsImN1cnZlIjoic2hhcnAifQ</pptd:line>
              </p:ext>
            </p:extLst>
          </p:nvPr>
        </p:nvSpPr>
        <p:spPr>
          <a:xfrm>
            <a:off x="825500" y="4940300"/>
            <a:ext cx="16662400" cy="10160"/>
          </a:xfrm>
          <a:custGeom>
            <a:avLst/>
            <a:gdLst/>
            <a:ahLst/>
            <a:cxnLst/>
            <a:rect l="l" t="t" r="r" b="b"/>
            <a:pathLst>
              <a:path w="1312" h="1">
                <a:moveTo>
                  <a:pt x="0" y="0"/>
                </a:moveTo>
                <a:lnTo>
                  <a:pt x="1312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7" name="research-table-r3c0"/>
          <p:cNvSpPr txBox="1"/>
          <p:nvPr/>
        </p:nvSpPr>
        <p:spPr>
          <a:xfrm>
            <a:off x="825500" y="5003800"/>
            <a:ext cx="309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东吴 2026-08-09</a:t>
            </a:r>
            <a:endParaRPr lang="en-US" sz="1600" noProof="1"/>
          </a:p>
        </p:txBody>
      </p:sp>
      <p:sp>
        <p:nvSpPr>
          <p:cNvPr id="28" name="research-table-r3c1"/>
          <p:cNvSpPr txBox="1"/>
          <p:nvPr/>
        </p:nvSpPr>
        <p:spPr>
          <a:xfrm>
            <a:off x="4000500" y="5003800"/>
            <a:ext cx="1193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32页</a:t>
            </a:r>
            <a:endParaRPr lang="en-US" sz="1600" noProof="1"/>
          </a:p>
        </p:txBody>
      </p:sp>
      <p:sp>
        <p:nvSpPr>
          <p:cNvPr id="29" name="research-table-r3c2"/>
          <p:cNvSpPr txBox="1"/>
          <p:nvPr/>
        </p:nvSpPr>
        <p:spPr>
          <a:xfrm>
            <a:off x="5270500" y="5003800"/>
            <a:ext cx="817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四足2026E收入+157%</a:t>
            </a:r>
            <a:endParaRPr lang="en-US" sz="1600" noProof="1"/>
          </a:p>
        </p:txBody>
      </p:sp>
      <p:sp>
        <p:nvSpPr>
          <p:cNvPr id="30" name="research-table-r3c3"/>
          <p:cNvSpPr txBox="1"/>
          <p:nvPr/>
        </p:nvSpPr>
        <p:spPr>
          <a:xfrm>
            <a:off x="13525500" y="5003800"/>
            <a:ext cx="38862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PDF第18—29页</a:t>
            </a:r>
            <a:endParaRPr lang="en-US" sz="1600" noProof="1"/>
          </a:p>
        </p:txBody>
      </p:sp>
      <p:sp>
        <p:nvSpPr>
          <p:cNvPr id="31" name="research-table-hr4"/>
          <p:cNvSpPr/>
          <p:nvPr>
            <p:extLst>
              <p:ext uri="{F5677B7D-0D2A-4D9B-9A5C-6D8D7D0E5A5D}">
                <pptd:line encoding="base64url">eyJ2aWV3Qm94IjpbMTMxMiwwLjhdLCJwb2ludHMiOiIwLDAuNCAxMzEyLDAuNCIsImN1cnZlIjoic2hhcnAifQ</pptd:line>
              </p:ext>
            </p:extLst>
          </p:nvPr>
        </p:nvSpPr>
        <p:spPr>
          <a:xfrm>
            <a:off x="825500" y="5676900"/>
            <a:ext cx="16662400" cy="10160"/>
          </a:xfrm>
          <a:custGeom>
            <a:avLst/>
            <a:gdLst/>
            <a:ahLst/>
            <a:cxnLst/>
            <a:rect l="l" t="t" r="r" b="b"/>
            <a:pathLst>
              <a:path w="1312" h="1">
                <a:moveTo>
                  <a:pt x="0" y="0"/>
                </a:moveTo>
                <a:lnTo>
                  <a:pt x="1312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2" name="research-table-r4c0"/>
          <p:cNvSpPr txBox="1"/>
          <p:nvPr/>
        </p:nvSpPr>
        <p:spPr>
          <a:xfrm>
            <a:off x="825500" y="5740400"/>
            <a:ext cx="309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中邮 2026-03-30</a:t>
            </a:r>
            <a:endParaRPr lang="en-US" sz="1600" noProof="1"/>
          </a:p>
        </p:txBody>
      </p:sp>
      <p:sp>
        <p:nvSpPr>
          <p:cNvPr id="33" name="research-table-r4c1"/>
          <p:cNvSpPr txBox="1"/>
          <p:nvPr/>
        </p:nvSpPr>
        <p:spPr>
          <a:xfrm>
            <a:off x="4000500" y="5740400"/>
            <a:ext cx="1193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59页</a:t>
            </a:r>
            <a:endParaRPr lang="en-US" sz="1600" noProof="1"/>
          </a:p>
        </p:txBody>
      </p:sp>
      <p:sp>
        <p:nvSpPr>
          <p:cNvPr id="34" name="research-table-r4c2"/>
          <p:cNvSpPr txBox="1"/>
          <p:nvPr/>
        </p:nvSpPr>
        <p:spPr>
          <a:xfrm>
            <a:off x="5270500" y="5740400"/>
            <a:ext cx="8178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G1拆解：2h续航/2kg负载</a:t>
            </a:r>
            <a:endParaRPr lang="en-US" sz="1600" noProof="1"/>
          </a:p>
        </p:txBody>
      </p:sp>
      <p:sp>
        <p:nvSpPr>
          <p:cNvPr id="35" name="research-table-r4c3"/>
          <p:cNvSpPr txBox="1"/>
          <p:nvPr/>
        </p:nvSpPr>
        <p:spPr>
          <a:xfrm>
            <a:off x="13525500" y="5740400"/>
            <a:ext cx="38862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PDF第50—54页</a:t>
            </a:r>
            <a:endParaRPr lang="en-US" sz="1600" noProof="1"/>
          </a:p>
        </p:txBody>
      </p:sp>
      <p:sp>
        <p:nvSpPr>
          <p:cNvPr id="36" name="research-table-hr5"/>
          <p:cNvSpPr/>
          <p:nvPr>
            <p:extLst>
              <p:ext uri="{F5677B7D-0D2A-4D9B-9A5C-6D8D7D0E5A5D}">
                <pptd:line encoding="base64url">eyJ2aWV3Qm94IjpbMTMxMiwwLjhdLCJwb2ludHMiOiIwLDAuNCAxMzEyLDAuNCIsImN1cnZlIjoic2hhcnAifQ</pptd:line>
              </p:ext>
            </p:extLst>
          </p:nvPr>
        </p:nvSpPr>
        <p:spPr>
          <a:xfrm>
            <a:off x="825500" y="6413500"/>
            <a:ext cx="16662400" cy="10160"/>
          </a:xfrm>
          <a:custGeom>
            <a:avLst/>
            <a:gdLst/>
            <a:ahLst/>
            <a:cxnLst/>
            <a:rect l="l" t="t" r="r" b="b"/>
            <a:pathLst>
              <a:path w="1312" h="1">
                <a:moveTo>
                  <a:pt x="0" y="0"/>
                </a:moveTo>
                <a:lnTo>
                  <a:pt x="1312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7" name="research-note-bg"/>
          <p:cNvSpPr/>
          <p:nvPr/>
        </p:nvSpPr>
        <p:spPr>
          <a:xfrm>
            <a:off x="825500" y="7048500"/>
            <a:ext cx="16662400" cy="1587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38" name="research-note-title"/>
          <p:cNvSpPr txBox="1"/>
          <p:nvPr/>
        </p:nvSpPr>
        <p:spPr>
          <a:xfrm>
            <a:off x="1028700" y="7175500"/>
            <a:ext cx="1625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综合方式</a:t>
            </a:r>
            <a:endParaRPr lang="en-US" sz="1600" noProof="1"/>
          </a:p>
        </p:txBody>
      </p:sp>
      <p:sp>
        <p:nvSpPr>
          <p:cNvPr id="39" name="research-note-body"/>
          <p:cNvSpPr txBox="1"/>
          <p:nvPr/>
        </p:nvSpPr>
        <p:spPr>
          <a:xfrm>
            <a:off x="1028700" y="7556500"/>
            <a:ext cx="16256000" cy="977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券商预测保留各自假设，不用平均值掩盖分歧；公司事实优先回到招股书、问询回复和上市公告书。预测均值仅用于估值敏感性，明确标注为三家简单平均。</a:t>
            </a:r>
            <a:endParaRPr lang="en-US" sz="1600" noProof="1"/>
          </a:p>
        </p:txBody>
      </p:sp>
      <p:sp>
        <p:nvSpPr>
          <p:cNvPr id="40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五份研报完整原文存于output/资料；来源、标题、日期、页码与公开链接详见output/来源清单.md。</a:t>
            </a:r>
            <a:endParaRPr lang="en-US" sz="1200" noProof="1"/>
          </a:p>
        </p:txBody>
      </p:sp>
      <p:sp>
        <p:nvSpPr>
          <p:cNvPr id="41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42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43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44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05</a:t>
            </a:r>
            <a:endParaRPr lang="en-US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Two › Business &amp; Products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人形与四足构成93.4%主营收入，双产品平台复用核心硬件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产品矩阵带来成本协同，场景复制仍需逐类验证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biz-h"/>
          <p:cNvSpPr txBox="1"/>
          <p:nvPr/>
        </p:nvSpPr>
        <p:spPr>
          <a:xfrm>
            <a:off x="825500" y="1943100"/>
            <a:ext cx="1079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双产品平台：消费/科研入口与行业应用共用底层能力</a:t>
            </a:r>
            <a:endParaRPr lang="en-US" sz="1800" noProof="1"/>
          </a:p>
        </p:txBody>
      </p:sp>
      <p:sp>
        <p:nvSpPr>
          <p:cNvPr id="7" name="human-bg"/>
          <p:cNvSpPr/>
          <p:nvPr/>
        </p:nvSpPr>
        <p:spPr>
          <a:xfrm>
            <a:off x="800100" y="2413000"/>
            <a:ext cx="4953000" cy="381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" name="human-title"/>
          <p:cNvSpPr txBox="1"/>
          <p:nvPr/>
        </p:nvSpPr>
        <p:spPr>
          <a:xfrm>
            <a:off x="1003300" y="2540000"/>
            <a:ext cx="4546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人形 H / G / R</a:t>
            </a:r>
            <a:endParaRPr lang="en-US" sz="1600" noProof="1"/>
          </a:p>
        </p:txBody>
      </p:sp>
      <p:sp>
        <p:nvSpPr>
          <p:cNvPr id="9" name="human-body"/>
          <p:cNvSpPr txBox="1"/>
          <p:nvPr/>
        </p:nvSpPr>
        <p:spPr>
          <a:xfrm>
            <a:off x="1003300" y="2921000"/>
            <a:ext cx="4546600" cy="320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H1/H2：全尺寸高性能；G1：中型主力；R1：轻量低门槛。G1官方起价1.35万美元（不含税运），EDU版支持二次开发。</a:t>
            </a:r>
            <a:endParaRPr lang="en-US" sz="1600" noProof="1"/>
          </a:p>
        </p:txBody>
      </p:sp>
      <p:sp>
        <p:nvSpPr>
          <p:cNvPr id="10" name="quad-bg"/>
          <p:cNvSpPr/>
          <p:nvPr/>
        </p:nvSpPr>
        <p:spPr>
          <a:xfrm>
            <a:off x="6007100" y="2413000"/>
            <a:ext cx="4953000" cy="381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" name="quad-title"/>
          <p:cNvSpPr txBox="1"/>
          <p:nvPr/>
        </p:nvSpPr>
        <p:spPr>
          <a:xfrm>
            <a:off x="6210300" y="2540000"/>
            <a:ext cx="4546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四足 Go / B / A</a:t>
            </a:r>
            <a:endParaRPr lang="en-US" sz="1600" noProof="1"/>
          </a:p>
        </p:txBody>
      </p:sp>
      <p:sp>
        <p:nvSpPr>
          <p:cNvPr id="12" name="quad-body"/>
          <p:cNvSpPr txBox="1"/>
          <p:nvPr/>
        </p:nvSpPr>
        <p:spPr>
          <a:xfrm>
            <a:off x="6210300" y="2921000"/>
            <a:ext cx="4546600" cy="320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Go系列覆盖消费与科研；B/A系列面向巡检、消防、制造等行业。四足提供量产经验、现金流和供应链复用。</a:t>
            </a:r>
            <a:endParaRPr lang="en-US" sz="1600" noProof="1"/>
          </a:p>
        </p:txBody>
      </p:sp>
      <p:sp>
        <p:nvSpPr>
          <p:cNvPr id="13" name="components-bg"/>
          <p:cNvSpPr/>
          <p:nvPr/>
        </p:nvSpPr>
        <p:spPr>
          <a:xfrm>
            <a:off x="11214100" y="2413000"/>
            <a:ext cx="3048000" cy="381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" name="components-title"/>
          <p:cNvSpPr txBox="1"/>
          <p:nvPr/>
        </p:nvSpPr>
        <p:spPr>
          <a:xfrm>
            <a:off x="11417300" y="2540000"/>
            <a:ext cx="2641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核心组件</a:t>
            </a:r>
            <a:endParaRPr lang="en-US" sz="1600" noProof="1"/>
          </a:p>
        </p:txBody>
      </p:sp>
      <p:sp>
        <p:nvSpPr>
          <p:cNvPr id="15" name="components-body"/>
          <p:cNvSpPr txBox="1"/>
          <p:nvPr/>
        </p:nvSpPr>
        <p:spPr>
          <a:xfrm>
            <a:off x="11417300" y="2921000"/>
            <a:ext cx="2641600" cy="320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关节模组、灵巧手、机械臂、激光雷达与计算平台，支撑跨品类复用。</a:t>
            </a:r>
            <a:endParaRPr lang="en-US" sz="1600" noProof="1"/>
          </a:p>
        </p:txBody>
      </p:sp>
      <p:pic>
        <p:nvPicPr>
          <p:cNvPr id="16" name="g1-product"/>
          <p:cNvPicPr/>
          <p:nvPr/>
        </p:nvPicPr>
        <p:blipFill>
          <a:blip r:embed="rId2"/>
          <a:srcRect t="-33544" b="-33544"/>
          <a:stretch>
            <a:fillRect/>
          </a:stretch>
        </p:blipFill>
        <p:spPr>
          <a:xfrm>
            <a:off x="14478000" y="2260600"/>
            <a:ext cx="3009900" cy="4191000"/>
          </a:xfrm>
          <a:prstGeom prst="rect">
            <a:avLst/>
          </a:prstGeom>
          <a:ln>
            <a:noFill/>
          </a:ln>
        </p:spPr>
      </p:pic>
      <p:sp>
        <p:nvSpPr>
          <p:cNvPr id="17" name="biz-note-bg"/>
          <p:cNvSpPr/>
          <p:nvPr/>
        </p:nvSpPr>
        <p:spPr>
          <a:xfrm>
            <a:off x="800100" y="6731000"/>
            <a:ext cx="16687800" cy="177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8" name="biz-note-title"/>
          <p:cNvSpPr txBox="1"/>
          <p:nvPr/>
        </p:nvSpPr>
        <p:spPr>
          <a:xfrm>
            <a:off x="1003300" y="6858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投资含义</a:t>
            </a:r>
            <a:endParaRPr lang="en-US" sz="1600" noProof="1"/>
          </a:p>
        </p:txBody>
      </p:sp>
      <p:sp>
        <p:nvSpPr>
          <p:cNvPr id="19" name="biz-note-body"/>
          <p:cNvSpPr txBox="1"/>
          <p:nvPr/>
        </p:nvSpPr>
        <p:spPr>
          <a:xfrm>
            <a:off x="1003300" y="7239000"/>
            <a:ext cx="162814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2025年人形与四足合计占主营收入93.40%。同一硬件与控制栈跨品类复用降低研发与采购成本，但不同场景对续航、负载、可靠性和服务网络的要求并不相同。</a:t>
            </a:r>
            <a:endParaRPr lang="en-US" sz="1600" noProof="1"/>
          </a:p>
        </p:txBody>
      </p:sp>
      <p:sp>
        <p:nvSpPr>
          <p:cNvPr id="20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公司招股书注册稿PDF第199页。2. Unitree G1官方产品页（截至2026-10-26）。3. 太平洋《宇树科技深度报告》2026-10-19 PDF第5—7页。</a:t>
            </a:r>
            <a:endParaRPr lang="en-US" sz="1200" noProof="1"/>
          </a:p>
        </p:txBody>
      </p:sp>
      <p:sp>
        <p:nvSpPr>
          <p:cNvPr id="21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2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3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4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06</a:t>
            </a:r>
            <a:endParaRPr lang="en-US" sz="12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Two › Revenue Mix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人形收入占比51.78%首次过半，结构升级也抬高单价下行敏感度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第二增长曲线已成为主业务，后续分析需直接看人形量价与场景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mix-h"/>
          <p:cNvSpPr txBox="1"/>
          <p:nvPr/>
        </p:nvSpPr>
        <p:spPr>
          <a:xfrm>
            <a:off x="825500" y="1943100"/>
            <a:ext cx="825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2025主营收入结构</a:t>
            </a:r>
            <a:endParaRPr lang="en-US" sz="1800" noProof="1"/>
          </a:p>
        </p:txBody>
      </p:sp>
      <p:graphicFrame>
        <p:nvGraphicFramePr>
          <p:cNvPr id="7" name="mix-chart"/>
          <p:cNvGraphicFramePr/>
          <p:nvPr/>
        </p:nvGraphicFramePr>
        <p:xfrm>
          <a:off x="800100" y="2349500"/>
          <a:ext cx="6604000" cy="5969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mix-center"/>
          <p:cNvSpPr txBox="1"/>
          <p:nvPr/>
        </p:nvSpPr>
        <p:spPr>
          <a:xfrm>
            <a:off x="2413000" y="4191000"/>
            <a:ext cx="3175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51.78%</a:t>
            </a:r>
            <a:endParaRPr lang="en-US" sz="3600" noProof="1"/>
          </a:p>
        </p:txBody>
      </p:sp>
      <p:sp>
        <p:nvSpPr>
          <p:cNvPr id="9" name="mix-center-label"/>
          <p:cNvSpPr txBox="1"/>
          <p:nvPr/>
        </p:nvSpPr>
        <p:spPr>
          <a:xfrm>
            <a:off x="2413000" y="48006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人形收入占比</a:t>
            </a:r>
            <a:endParaRPr lang="en-US" sz="1400" noProof="1"/>
          </a:p>
        </p:txBody>
      </p:sp>
      <p:sp>
        <p:nvSpPr>
          <p:cNvPr id="10" name="mix-table-h0"/>
          <p:cNvSpPr txBox="1"/>
          <p:nvPr/>
        </p:nvSpPr>
        <p:spPr>
          <a:xfrm>
            <a:off x="8128000" y="2413000"/>
            <a:ext cx="309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分部</a:t>
            </a:r>
            <a:endParaRPr lang="en-US" sz="1400" noProof="1"/>
          </a:p>
        </p:txBody>
      </p:sp>
      <p:sp>
        <p:nvSpPr>
          <p:cNvPr id="11" name="mix-table-h1"/>
          <p:cNvSpPr txBox="1"/>
          <p:nvPr/>
        </p:nvSpPr>
        <p:spPr>
          <a:xfrm>
            <a:off x="11303000" y="24130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收入（亿元）</a:t>
            </a:r>
            <a:endParaRPr lang="en-US" sz="1400" noProof="1"/>
          </a:p>
        </p:txBody>
      </p:sp>
      <p:sp>
        <p:nvSpPr>
          <p:cNvPr id="12" name="mix-table-h2"/>
          <p:cNvSpPr txBox="1"/>
          <p:nvPr/>
        </p:nvSpPr>
        <p:spPr>
          <a:xfrm>
            <a:off x="13589000" y="2413000"/>
            <a:ext cx="246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主营占比</a:t>
            </a:r>
            <a:endParaRPr lang="en-US" sz="1400" noProof="1"/>
          </a:p>
        </p:txBody>
      </p:sp>
      <p:sp>
        <p:nvSpPr>
          <p:cNvPr id="13" name="mix-table-hr0"/>
          <p:cNvSpPr/>
          <p:nvPr>
            <p:extLst>
              <p:ext uri="{F5677B7D-0D2A-4D9B-9A5C-6D8D7D0E5A5D}">
                <pptd:line encoding="base64url">eyJ2aWV3Qm94IjpbNjMwLDAuOF0sInBvaW50cyI6IjAsMC40IDYzMCwwLjQiLCJjdXJ2ZSI6InNoYXJwIn0</pptd:line>
              </p:ext>
            </p:extLst>
          </p:nvPr>
        </p:nvSpPr>
        <p:spPr>
          <a:xfrm>
            <a:off x="8128000" y="273050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630" h="1">
                <a:moveTo>
                  <a:pt x="0" y="0"/>
                </a:moveTo>
                <a:lnTo>
                  <a:pt x="630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14" name="mix-table-r0c0"/>
          <p:cNvSpPr txBox="1"/>
          <p:nvPr/>
        </p:nvSpPr>
        <p:spPr>
          <a:xfrm>
            <a:off x="8128000" y="27940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人形机器人</a:t>
            </a:r>
            <a:endParaRPr lang="en-US" sz="1600" noProof="1"/>
          </a:p>
        </p:txBody>
      </p:sp>
      <p:sp>
        <p:nvSpPr>
          <p:cNvPr id="15" name="mix-table-r0c1"/>
          <p:cNvSpPr txBox="1"/>
          <p:nvPr/>
        </p:nvSpPr>
        <p:spPr>
          <a:xfrm>
            <a:off x="11303000" y="2794000"/>
            <a:ext cx="2209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8.68</a:t>
            </a:r>
            <a:endParaRPr lang="en-US" sz="1600" noProof="1"/>
          </a:p>
        </p:txBody>
      </p:sp>
      <p:sp>
        <p:nvSpPr>
          <p:cNvPr id="16" name="mix-table-r0c2"/>
          <p:cNvSpPr txBox="1"/>
          <p:nvPr/>
        </p:nvSpPr>
        <p:spPr>
          <a:xfrm>
            <a:off x="13589000" y="2794000"/>
            <a:ext cx="2463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51.78%</a:t>
            </a:r>
            <a:endParaRPr lang="en-US" sz="1600" noProof="1"/>
          </a:p>
        </p:txBody>
      </p:sp>
      <p:sp>
        <p:nvSpPr>
          <p:cNvPr id="17" name="mix-table-hr1"/>
          <p:cNvSpPr/>
          <p:nvPr>
            <p:extLst>
              <p:ext uri="{F5677B7D-0D2A-4D9B-9A5C-6D8D7D0E5A5D}">
                <pptd:line encoding="base64url">eyJ2aWV3Qm94IjpbNjMwLDAuOF0sInBvaW50cyI6IjAsMC40IDYzMCwwLjQiLCJjdXJ2ZSI6InNoYXJwIn0</pptd:line>
              </p:ext>
            </p:extLst>
          </p:nvPr>
        </p:nvSpPr>
        <p:spPr>
          <a:xfrm>
            <a:off x="8128000" y="351790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630" h="1">
                <a:moveTo>
                  <a:pt x="0" y="0"/>
                </a:moveTo>
                <a:lnTo>
                  <a:pt x="63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8" name="mix-table-r1c0"/>
          <p:cNvSpPr txBox="1"/>
          <p:nvPr/>
        </p:nvSpPr>
        <p:spPr>
          <a:xfrm>
            <a:off x="8128000" y="35814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四足机器人</a:t>
            </a:r>
            <a:endParaRPr lang="en-US" sz="1600" noProof="1"/>
          </a:p>
        </p:txBody>
      </p:sp>
      <p:sp>
        <p:nvSpPr>
          <p:cNvPr id="19" name="mix-table-r1c1"/>
          <p:cNvSpPr txBox="1"/>
          <p:nvPr/>
        </p:nvSpPr>
        <p:spPr>
          <a:xfrm>
            <a:off x="11303000" y="3581400"/>
            <a:ext cx="2209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6.98</a:t>
            </a:r>
            <a:endParaRPr lang="en-US" sz="1600" noProof="1"/>
          </a:p>
        </p:txBody>
      </p:sp>
      <p:sp>
        <p:nvSpPr>
          <p:cNvPr id="20" name="mix-table-r1c2"/>
          <p:cNvSpPr txBox="1"/>
          <p:nvPr/>
        </p:nvSpPr>
        <p:spPr>
          <a:xfrm>
            <a:off x="13589000" y="3581400"/>
            <a:ext cx="2463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41.62%</a:t>
            </a:r>
            <a:endParaRPr lang="en-US" sz="1600" noProof="1"/>
          </a:p>
        </p:txBody>
      </p:sp>
      <p:sp>
        <p:nvSpPr>
          <p:cNvPr id="21" name="mix-table-hr2"/>
          <p:cNvSpPr/>
          <p:nvPr>
            <p:extLst>
              <p:ext uri="{F5677B7D-0D2A-4D9B-9A5C-6D8D7D0E5A5D}">
                <pptd:line encoding="base64url">eyJ2aWV3Qm94IjpbNjMwLDAuOF0sInBvaW50cyI6IjAsMC40IDYzMCwwLjQiLCJjdXJ2ZSI6InNoYXJwIn0</pptd:line>
              </p:ext>
            </p:extLst>
          </p:nvPr>
        </p:nvSpPr>
        <p:spPr>
          <a:xfrm>
            <a:off x="8128000" y="430530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630" h="1">
                <a:moveTo>
                  <a:pt x="0" y="0"/>
                </a:moveTo>
                <a:lnTo>
                  <a:pt x="63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2" name="mix-table-r2c0"/>
          <p:cNvSpPr txBox="1"/>
          <p:nvPr/>
        </p:nvSpPr>
        <p:spPr>
          <a:xfrm>
            <a:off x="8128000" y="43688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机器人组件</a:t>
            </a:r>
            <a:endParaRPr lang="en-US" sz="1600" noProof="1"/>
          </a:p>
        </p:txBody>
      </p:sp>
      <p:sp>
        <p:nvSpPr>
          <p:cNvPr id="23" name="mix-table-r2c1"/>
          <p:cNvSpPr txBox="1"/>
          <p:nvPr/>
        </p:nvSpPr>
        <p:spPr>
          <a:xfrm>
            <a:off x="11303000" y="4368800"/>
            <a:ext cx="2209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1.04</a:t>
            </a:r>
            <a:endParaRPr lang="en-US" sz="1600" noProof="1"/>
          </a:p>
        </p:txBody>
      </p:sp>
      <p:sp>
        <p:nvSpPr>
          <p:cNvPr id="24" name="mix-table-r2c2"/>
          <p:cNvSpPr txBox="1"/>
          <p:nvPr/>
        </p:nvSpPr>
        <p:spPr>
          <a:xfrm>
            <a:off x="13589000" y="4368800"/>
            <a:ext cx="2463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6.19%</a:t>
            </a:r>
            <a:endParaRPr lang="en-US" sz="1600" noProof="1"/>
          </a:p>
        </p:txBody>
      </p:sp>
      <p:sp>
        <p:nvSpPr>
          <p:cNvPr id="25" name="mix-table-hr3"/>
          <p:cNvSpPr/>
          <p:nvPr>
            <p:extLst>
              <p:ext uri="{F5677B7D-0D2A-4D9B-9A5C-6D8D7D0E5A5D}">
                <pptd:line encoding="base64url">eyJ2aWV3Qm94IjpbNjMwLDAuOF0sInBvaW50cyI6IjAsMC40IDYzMCwwLjQiLCJjdXJ2ZSI6InNoYXJwIn0</pptd:line>
              </p:ext>
            </p:extLst>
          </p:nvPr>
        </p:nvSpPr>
        <p:spPr>
          <a:xfrm>
            <a:off x="8128000" y="509270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630" h="1">
                <a:moveTo>
                  <a:pt x="0" y="0"/>
                </a:moveTo>
                <a:lnTo>
                  <a:pt x="63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6" name="mix-table-r3c0"/>
          <p:cNvSpPr txBox="1"/>
          <p:nvPr/>
        </p:nvSpPr>
        <p:spPr>
          <a:xfrm>
            <a:off x="8128000" y="51562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其他</a:t>
            </a:r>
            <a:endParaRPr lang="en-US" sz="1600" noProof="1"/>
          </a:p>
        </p:txBody>
      </p:sp>
      <p:sp>
        <p:nvSpPr>
          <p:cNvPr id="27" name="mix-table-r3c1"/>
          <p:cNvSpPr txBox="1"/>
          <p:nvPr/>
        </p:nvSpPr>
        <p:spPr>
          <a:xfrm>
            <a:off x="11303000" y="5156200"/>
            <a:ext cx="2209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0.07</a:t>
            </a:r>
            <a:endParaRPr lang="en-US" sz="1600" noProof="1"/>
          </a:p>
        </p:txBody>
      </p:sp>
      <p:sp>
        <p:nvSpPr>
          <p:cNvPr id="28" name="mix-table-r3c2"/>
          <p:cNvSpPr txBox="1"/>
          <p:nvPr/>
        </p:nvSpPr>
        <p:spPr>
          <a:xfrm>
            <a:off x="13589000" y="5156200"/>
            <a:ext cx="2463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0.41%</a:t>
            </a:r>
            <a:endParaRPr lang="en-US" sz="1600" noProof="1"/>
          </a:p>
        </p:txBody>
      </p:sp>
      <p:sp>
        <p:nvSpPr>
          <p:cNvPr id="29" name="mix-table-hr4"/>
          <p:cNvSpPr/>
          <p:nvPr>
            <p:extLst>
              <p:ext uri="{F5677B7D-0D2A-4D9B-9A5C-6D8D7D0E5A5D}">
                <pptd:line encoding="base64url">eyJ2aWV3Qm94IjpbNjMwLDAuOF0sInBvaW50cyI6IjAsMC40IDYzMCwwLjQiLCJjdXJ2ZSI6InNoYXJwIn0</pptd:line>
              </p:ext>
            </p:extLst>
          </p:nvPr>
        </p:nvSpPr>
        <p:spPr>
          <a:xfrm>
            <a:off x="8128000" y="588010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630" h="1">
                <a:moveTo>
                  <a:pt x="0" y="0"/>
                </a:moveTo>
                <a:lnTo>
                  <a:pt x="63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0" name="mix-note-bg"/>
          <p:cNvSpPr/>
          <p:nvPr/>
        </p:nvSpPr>
        <p:spPr>
          <a:xfrm>
            <a:off x="8128000" y="6350000"/>
            <a:ext cx="9359900" cy="1968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31" name="mix-note-title"/>
          <p:cNvSpPr txBox="1"/>
          <p:nvPr/>
        </p:nvSpPr>
        <p:spPr>
          <a:xfrm>
            <a:off x="8331200" y="6477000"/>
            <a:ext cx="89535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结构判断</a:t>
            </a:r>
            <a:endParaRPr lang="en-US" sz="1600" noProof="1"/>
          </a:p>
        </p:txBody>
      </p:sp>
      <p:sp>
        <p:nvSpPr>
          <p:cNvPr id="32" name="mix-note-body"/>
          <p:cNvSpPr txBox="1"/>
          <p:nvPr/>
        </p:nvSpPr>
        <p:spPr>
          <a:xfrm>
            <a:off x="8331200" y="6858000"/>
            <a:ext cx="8953500" cy="1358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人形首次成为最大收入来源，带动产品组合向高毛利迁移；均价与SKU结构变化也让盈利对放量和降本更敏感。</a:t>
            </a:r>
            <a:endParaRPr lang="en-US" sz="1600" noProof="1"/>
          </a:p>
        </p:txBody>
      </p:sp>
      <p:sp>
        <p:nvSpPr>
          <p:cNvPr id="33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公司招股书注册稿PDF第199页；分为主营业务收入口径。</a:t>
            </a:r>
            <a:endParaRPr lang="en-US" sz="1200" noProof="1"/>
          </a:p>
        </p:txBody>
      </p:sp>
      <p:sp>
        <p:nvSpPr>
          <p:cNvPr id="34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5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36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7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07</a:t>
            </a:r>
            <a:endParaRPr lang="en-US" sz="12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Two › Unit Economics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人形均价两年下降72%，销量增长必须持续覆盖价格与结构压力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规模扩张有效，但价格与产品组合已成为收入模型的显性变量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asp-h"/>
          <p:cNvSpPr txBox="1"/>
          <p:nvPr/>
        </p:nvSpPr>
        <p:spPr>
          <a:xfrm>
            <a:off x="825500" y="19431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人形机器人：销量增长与均价下行同时发生</a:t>
            </a:r>
            <a:endParaRPr lang="en-US" sz="1800" noProof="1"/>
          </a:p>
        </p:txBody>
      </p:sp>
      <p:graphicFrame>
        <p:nvGraphicFramePr>
          <p:cNvPr id="7" name="asp-chart"/>
          <p:cNvGraphicFramePr/>
          <p:nvPr/>
        </p:nvGraphicFramePr>
        <p:xfrm>
          <a:off x="800100" y="2413000"/>
          <a:ext cx="9906000" cy="4953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asp-drop-bg"/>
          <p:cNvSpPr/>
          <p:nvPr/>
        </p:nvSpPr>
        <p:spPr>
          <a:xfrm>
            <a:off x="11430000" y="2413000"/>
            <a:ext cx="29210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asp-drop-label"/>
          <p:cNvSpPr txBox="1"/>
          <p:nvPr/>
        </p:nvSpPr>
        <p:spPr>
          <a:xfrm>
            <a:off x="11633200" y="25908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均价变化</a:t>
            </a:r>
            <a:endParaRPr lang="en-US" sz="1400" noProof="1"/>
          </a:p>
        </p:txBody>
      </p:sp>
      <p:sp>
        <p:nvSpPr>
          <p:cNvPr id="10" name="asp-drop-value"/>
          <p:cNvSpPr txBox="1"/>
          <p:nvPr/>
        </p:nvSpPr>
        <p:spPr>
          <a:xfrm>
            <a:off x="11633200" y="2946400"/>
            <a:ext cx="2514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−72.0%</a:t>
            </a:r>
            <a:endParaRPr lang="en-US" sz="3600" noProof="1"/>
          </a:p>
        </p:txBody>
      </p:sp>
      <p:sp>
        <p:nvSpPr>
          <p:cNvPr id="11" name="asp-drop-note"/>
          <p:cNvSpPr txBox="1"/>
          <p:nvPr/>
        </p:nvSpPr>
        <p:spPr>
          <a:xfrm>
            <a:off x="11633200" y="3683000"/>
            <a:ext cx="2514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2023A 59.34万元→2025A 16.64万元。</a:t>
            </a:r>
            <a:endParaRPr lang="en-US" sz="1600" noProof="1"/>
          </a:p>
        </p:txBody>
      </p:sp>
      <p:sp>
        <p:nvSpPr>
          <p:cNvPr id="12" name="asp-note-bg"/>
          <p:cNvSpPr/>
          <p:nvPr/>
        </p:nvSpPr>
        <p:spPr>
          <a:xfrm>
            <a:off x="11430000" y="4953000"/>
            <a:ext cx="6057900" cy="2413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3" name="asp-note-title"/>
          <p:cNvSpPr txBox="1"/>
          <p:nvPr/>
        </p:nvSpPr>
        <p:spPr>
          <a:xfrm>
            <a:off x="11633200" y="5080000"/>
            <a:ext cx="56515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投资含义</a:t>
            </a:r>
            <a:endParaRPr lang="en-US" sz="1600" noProof="1"/>
          </a:p>
        </p:txBody>
      </p:sp>
      <p:sp>
        <p:nvSpPr>
          <p:cNvPr id="14" name="asp-note-body"/>
          <p:cNvSpPr txBox="1"/>
          <p:nvPr/>
        </p:nvSpPr>
        <p:spPr>
          <a:xfrm>
            <a:off x="11633200" y="5461000"/>
            <a:ext cx="5651500" cy="180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2025年销量5215台，是收入增长的主驱动。低价G1放量扩大用户基础，也要求成本继续下降，避免均价与毛利率同时承压。</a:t>
            </a:r>
            <a:endParaRPr lang="en-US" sz="1600" noProof="1"/>
          </a:p>
        </p:txBody>
      </p:sp>
      <p:sp>
        <p:nvSpPr>
          <p:cNvPr id="15" name="asp-watch-bg"/>
          <p:cNvSpPr/>
          <p:nvPr/>
        </p:nvSpPr>
        <p:spPr>
          <a:xfrm>
            <a:off x="800100" y="7747000"/>
            <a:ext cx="166878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" name="asp-watch-title"/>
          <p:cNvSpPr txBox="1"/>
          <p:nvPr/>
        </p:nvSpPr>
        <p:spPr>
          <a:xfrm>
            <a:off x="1003300" y="7874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跟踪口径</a:t>
            </a:r>
            <a:endParaRPr lang="en-US" sz="1600" noProof="1"/>
          </a:p>
        </p:txBody>
      </p:sp>
      <p:sp>
        <p:nvSpPr>
          <p:cNvPr id="17" name="asp-watch-body"/>
          <p:cNvSpPr txBox="1"/>
          <p:nvPr/>
        </p:nvSpPr>
        <p:spPr>
          <a:xfrm>
            <a:off x="1003300" y="8255000"/>
            <a:ext cx="16281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后续披露需同时看销量、均价、单位成本和产品结构；单独看出货量无法判断收入质量。</a:t>
            </a:r>
            <a:endParaRPr lang="en-US" sz="1600" noProof="1"/>
          </a:p>
        </p:txBody>
      </p:sp>
      <p:sp>
        <p:nvSpPr>
          <p:cNvPr id="18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公司招股书注册稿PDF第201页。2. 均价降幅=(16.64/59.34−1)，团队计算。</a:t>
            </a:r>
            <a:endParaRPr lang="en-US" sz="1200" noProof="1"/>
          </a:p>
        </p:txBody>
      </p:sp>
      <p:sp>
        <p:nvSpPr>
          <p:cNvPr id="19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0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1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2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08</a:t>
            </a:r>
            <a:endParaRPr lang="en-US" sz="12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Two › Commercialization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人形科研教育占73.60%，明确制造巡检物流仅0.157亿元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当前收入验证的是科研与展示需求，生产力场景仍需独立证据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app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2025年1—9月人形收入按应用领域</a:t>
            </a:r>
            <a:endParaRPr lang="en-US" sz="1800" noProof="1"/>
          </a:p>
        </p:txBody>
      </p:sp>
      <p:graphicFrame>
        <p:nvGraphicFramePr>
          <p:cNvPr id="7" name="app-chart"/>
          <p:cNvGraphicFramePr/>
          <p:nvPr/>
        </p:nvGraphicFramePr>
        <p:xfrm>
          <a:off x="800100" y="2413000"/>
          <a:ext cx="7874000" cy="4191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app-industrial-bg"/>
          <p:cNvSpPr/>
          <p:nvPr/>
        </p:nvSpPr>
        <p:spPr>
          <a:xfrm>
            <a:off x="9334500" y="2413000"/>
            <a:ext cx="38100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app-industrial-label"/>
          <p:cNvSpPr txBox="1"/>
          <p:nvPr/>
        </p:nvSpPr>
        <p:spPr>
          <a:xfrm>
            <a:off x="9537700" y="2590800"/>
            <a:ext cx="3403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明确制造/巡检/物流</a:t>
            </a:r>
            <a:endParaRPr lang="en-US" sz="1400" noProof="1"/>
          </a:p>
        </p:txBody>
      </p:sp>
      <p:sp>
        <p:nvSpPr>
          <p:cNvPr id="10" name="app-industrial-value"/>
          <p:cNvSpPr txBox="1"/>
          <p:nvPr/>
        </p:nvSpPr>
        <p:spPr>
          <a:xfrm>
            <a:off x="9537700" y="2946400"/>
            <a:ext cx="340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0.157亿元</a:t>
            </a:r>
            <a:endParaRPr lang="en-US" sz="3600" noProof="1"/>
          </a:p>
        </p:txBody>
      </p:sp>
      <p:sp>
        <p:nvSpPr>
          <p:cNvPr id="11" name="app-industrial-note"/>
          <p:cNvSpPr txBox="1"/>
          <p:nvPr/>
        </p:nvSpPr>
        <p:spPr>
          <a:xfrm>
            <a:off x="9537700" y="3683000"/>
            <a:ext cx="3403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占人形行业应用收入29.29%。</a:t>
            </a:r>
            <a:endParaRPr lang="en-US" sz="1600" noProof="1"/>
          </a:p>
        </p:txBody>
      </p:sp>
      <p:sp>
        <p:nvSpPr>
          <p:cNvPr id="12" name="app-guide-bg"/>
          <p:cNvSpPr/>
          <p:nvPr/>
        </p:nvSpPr>
        <p:spPr>
          <a:xfrm>
            <a:off x="13462000" y="2413000"/>
            <a:ext cx="40259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" name="app-guide-label"/>
          <p:cNvSpPr txBox="1"/>
          <p:nvPr/>
        </p:nvSpPr>
        <p:spPr>
          <a:xfrm>
            <a:off x="13665200" y="2590800"/>
            <a:ext cx="3619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企业导览占行业应用</a:t>
            </a:r>
            <a:endParaRPr lang="en-US" sz="1400" noProof="1"/>
          </a:p>
        </p:txBody>
      </p:sp>
      <p:sp>
        <p:nvSpPr>
          <p:cNvPr id="14" name="app-guide-value"/>
          <p:cNvSpPr txBox="1"/>
          <p:nvPr/>
        </p:nvSpPr>
        <p:spPr>
          <a:xfrm>
            <a:off x="13665200" y="2946400"/>
            <a:ext cx="361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50—70%</a:t>
            </a:r>
            <a:endParaRPr lang="en-US" sz="3600" noProof="1"/>
          </a:p>
        </p:txBody>
      </p:sp>
      <p:sp>
        <p:nvSpPr>
          <p:cNvPr id="15" name="app-guide-note"/>
          <p:cNvSpPr txBox="1"/>
          <p:nvPr/>
        </p:nvSpPr>
        <p:spPr>
          <a:xfrm>
            <a:off x="13665200" y="3683000"/>
            <a:ext cx="3619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导览不等同连续生产作业。</a:t>
            </a:r>
            <a:endParaRPr lang="en-US" sz="1600" noProof="1"/>
          </a:p>
        </p:txBody>
      </p:sp>
      <p:sp>
        <p:nvSpPr>
          <p:cNvPr id="16" name="app-taxonomy-bg"/>
          <p:cNvSpPr/>
          <p:nvPr/>
        </p:nvSpPr>
        <p:spPr>
          <a:xfrm>
            <a:off x="9334500" y="4953000"/>
            <a:ext cx="8153400" cy="158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" name="app-taxonomy-title"/>
          <p:cNvSpPr txBox="1"/>
          <p:nvPr/>
        </p:nvSpPr>
        <p:spPr>
          <a:xfrm>
            <a:off x="9537700" y="5080000"/>
            <a:ext cx="7747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口径拆解</a:t>
            </a:r>
            <a:endParaRPr lang="en-US" sz="1600" noProof="1"/>
          </a:p>
        </p:txBody>
      </p:sp>
      <p:sp>
        <p:nvSpPr>
          <p:cNvPr id="18" name="app-taxonomy-body"/>
          <p:cNvSpPr txBox="1"/>
          <p:nvPr/>
        </p:nvSpPr>
        <p:spPr>
          <a:xfrm>
            <a:off x="9537700" y="5461000"/>
            <a:ext cx="7747000" cy="977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科研教育含高校、科研机构、科技企业与个人开发者；行业应用中的企业导览属于接待引导，应与制造、巡检、物流分别观察。</a:t>
            </a:r>
            <a:endParaRPr lang="en-US" sz="1600" noProof="1"/>
          </a:p>
        </p:txBody>
      </p:sp>
      <p:sp>
        <p:nvSpPr>
          <p:cNvPr id="19" name="app-gap-bg"/>
          <p:cNvSpPr/>
          <p:nvPr/>
        </p:nvSpPr>
        <p:spPr>
          <a:xfrm>
            <a:off x="800100" y="7048500"/>
            <a:ext cx="16687800" cy="1524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20" name="app-gap-title"/>
          <p:cNvSpPr txBox="1"/>
          <p:nvPr/>
        </p:nvSpPr>
        <p:spPr>
          <a:xfrm>
            <a:off x="1003300" y="71755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商业化证据缺口</a:t>
            </a:r>
            <a:endParaRPr lang="en-US" sz="1600" noProof="1"/>
          </a:p>
        </p:txBody>
      </p:sp>
      <p:sp>
        <p:nvSpPr>
          <p:cNvPr id="21" name="app-gap-body"/>
          <p:cNvSpPr txBox="1"/>
          <p:nvPr/>
        </p:nvSpPr>
        <p:spPr>
          <a:xfrm>
            <a:off x="1003300" y="7556500"/>
            <a:ext cx="162814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截至截止日，缺少公司层面的实际开工时长、任务成功率、复购率和现役/闲置比例。投委会不以行业空间或其他公司的工厂案例替代宇树自身事实。</a:t>
            </a:r>
            <a:endParaRPr lang="en-US" sz="1600" noProof="1"/>
          </a:p>
        </p:txBody>
      </p:sp>
      <p:sp>
        <p:nvSpPr>
          <p:cNvPr id="22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公司第二轮问询回复2026-03-20 PDF第5—6页。2. 0.157亿元=1570.20万元，明确智能制造、智能巡检、物流配送场景。</a:t>
            </a:r>
            <a:endParaRPr lang="en-US" sz="1200" noProof="1"/>
          </a:p>
        </p:txBody>
      </p:sp>
      <p:sp>
        <p:nvSpPr>
          <p:cNvPr id="23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4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5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6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09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Two › Competitive Position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2025年出货领先已被验证，2026H1第二名提示份额不能线性外推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领先是时点事实，持续份额需要交付、场景和成本共同支撑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comp-h"/>
          <p:cNvSpPr txBox="1"/>
          <p:nvPr/>
        </p:nvSpPr>
        <p:spPr>
          <a:xfrm>
            <a:off x="825500" y="19431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2025年主要厂商人形机器人出货量（台）</a:t>
            </a:r>
            <a:endParaRPr lang="en-US" sz="1800" noProof="1"/>
          </a:p>
        </p:txBody>
      </p:sp>
      <p:graphicFrame>
        <p:nvGraphicFramePr>
          <p:cNvPr id="7" name="comp-chart"/>
          <p:cNvGraphicFramePr/>
          <p:nvPr/>
        </p:nvGraphicFramePr>
        <p:xfrm>
          <a:off x="800100" y="2413000"/>
          <a:ext cx="9906000" cy="4699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comp-h1-bg"/>
          <p:cNvSpPr/>
          <p:nvPr/>
        </p:nvSpPr>
        <p:spPr>
          <a:xfrm>
            <a:off x="11430000" y="2413000"/>
            <a:ext cx="60579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mp-h1-label"/>
          <p:cNvSpPr txBox="1"/>
          <p:nvPr/>
        </p:nvSpPr>
        <p:spPr>
          <a:xfrm>
            <a:off x="11633200" y="2590800"/>
            <a:ext cx="5651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2026H1排名变化</a:t>
            </a:r>
            <a:endParaRPr lang="en-US" sz="1400" noProof="1"/>
          </a:p>
        </p:txBody>
      </p:sp>
      <p:sp>
        <p:nvSpPr>
          <p:cNvPr id="10" name="comp-h1-value"/>
          <p:cNvSpPr txBox="1"/>
          <p:nvPr/>
        </p:nvSpPr>
        <p:spPr>
          <a:xfrm>
            <a:off x="11633200" y="2946400"/>
            <a:ext cx="5651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约5900台 / 第2名</a:t>
            </a:r>
            <a:endParaRPr lang="en-US" sz="3600" noProof="1"/>
          </a:p>
        </p:txBody>
      </p:sp>
      <p:sp>
        <p:nvSpPr>
          <p:cNvPr id="11" name="comp-h1-note"/>
          <p:cNvSpPr txBox="1"/>
          <p:nvPr/>
        </p:nvSpPr>
        <p:spPr>
          <a:xfrm>
            <a:off x="11633200" y="3683000"/>
            <a:ext cx="5651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华鑫引用行业数据：宇树居全球第二；说明领先需要连续验证。</a:t>
            </a:r>
            <a:endParaRPr lang="en-US" sz="1600" noProof="1"/>
          </a:p>
        </p:txBody>
      </p:sp>
      <p:sp>
        <p:nvSpPr>
          <p:cNvPr id="12" name="comp-watch-bg"/>
          <p:cNvSpPr/>
          <p:nvPr/>
        </p:nvSpPr>
        <p:spPr>
          <a:xfrm>
            <a:off x="11430000" y="4953000"/>
            <a:ext cx="6057900" cy="2095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" name="comp-watch-title"/>
          <p:cNvSpPr txBox="1"/>
          <p:nvPr/>
        </p:nvSpPr>
        <p:spPr>
          <a:xfrm>
            <a:off x="11633200" y="5080000"/>
            <a:ext cx="56515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份额监测</a:t>
            </a:r>
            <a:endParaRPr lang="en-US" sz="1600" noProof="1"/>
          </a:p>
        </p:txBody>
      </p:sp>
      <p:sp>
        <p:nvSpPr>
          <p:cNvPr id="14" name="comp-watch-body"/>
          <p:cNvSpPr txBox="1"/>
          <p:nvPr/>
        </p:nvSpPr>
        <p:spPr>
          <a:xfrm>
            <a:off x="11633200" y="5461000"/>
            <a:ext cx="5651500" cy="148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每半年比较出货量，每季度比较收入、均价与毛利率。若出货领先但均价和毛利持续下行，份额质量的判断应下调。</a:t>
            </a:r>
            <a:endParaRPr lang="en-US" sz="1600" noProof="1"/>
          </a:p>
        </p:txBody>
      </p:sp>
      <p:sp>
        <p:nvSpPr>
          <p:cNvPr id="15" name="comp-note-bg"/>
          <p:cNvSpPr/>
          <p:nvPr/>
        </p:nvSpPr>
        <p:spPr>
          <a:xfrm>
            <a:off x="800100" y="7493000"/>
            <a:ext cx="16687800" cy="101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6" name="comp-note-title"/>
          <p:cNvSpPr txBox="1"/>
          <p:nvPr/>
        </p:nvSpPr>
        <p:spPr>
          <a:xfrm>
            <a:off x="1003300" y="7620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竞争判断</a:t>
            </a:r>
            <a:endParaRPr lang="en-US" sz="1600" noProof="1"/>
          </a:p>
        </p:txBody>
      </p:sp>
      <p:sp>
        <p:nvSpPr>
          <p:cNvPr id="17" name="comp-note-body"/>
          <p:cNvSpPr txBox="1"/>
          <p:nvPr/>
        </p:nvSpPr>
        <p:spPr>
          <a:xfrm>
            <a:off x="1003300" y="8001000"/>
            <a:ext cx="16281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2025年出货第一证明量产先发，不构成永久份额假设。智元等厂商扩产、价格竞争与场景选择均可能改变收入结构。</a:t>
            </a:r>
            <a:endParaRPr lang="en-US" sz="1600" noProof="1"/>
          </a:p>
        </p:txBody>
      </p:sp>
      <p:sp>
        <p:nvSpPr>
          <p:cNvPr id="18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东吴《人形机器人产业化奇点已至》2026-08-09 PDF第18—19页；海外代表为Figure AI与Tesla各150台。2. 华鑫《茁壮成长的中国树》2026-09-19 PDF第1、3页。</a:t>
            </a:r>
            <a:endParaRPr lang="en-US" sz="1200" noProof="1"/>
          </a:p>
        </p:txBody>
      </p:sp>
      <p:sp>
        <p:nvSpPr>
          <p:cNvPr id="19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0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1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2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10</a:t>
            </a:r>
            <a:endParaRPr lang="en-US" sz="12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Two › Technology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184名研发人员与262项专利支撑全栈协同，核心在系统工程而非单件采购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软硬件共同迭代构成优势，单一零部件自研率不能直接等同护城河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tech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竞争优势应理解为系统工程，而非“所有零件都有壁垒”</a:t>
            </a:r>
            <a:endParaRPr lang="en-US" sz="1800" noProof="1"/>
          </a:p>
        </p:txBody>
      </p:sp>
      <p:sp>
        <p:nvSpPr>
          <p:cNvPr id="7" name="body-tech-bg"/>
          <p:cNvSpPr/>
          <p:nvPr/>
        </p:nvSpPr>
        <p:spPr>
          <a:xfrm>
            <a:off x="800100" y="2413000"/>
            <a:ext cx="5207000" cy="393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" name="body-tech-title"/>
          <p:cNvSpPr txBox="1"/>
          <p:nvPr/>
        </p:nvSpPr>
        <p:spPr>
          <a:xfrm>
            <a:off x="1003300" y="2540000"/>
            <a:ext cx="4800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本体与关节</a:t>
            </a:r>
            <a:endParaRPr lang="en-US" sz="1600" noProof="1"/>
          </a:p>
        </p:txBody>
      </p:sp>
      <p:sp>
        <p:nvSpPr>
          <p:cNvPr id="9" name="body-tech-body"/>
          <p:cNvSpPr txBox="1"/>
          <p:nvPr/>
        </p:nvSpPr>
        <p:spPr>
          <a:xfrm>
            <a:off x="1003300" y="2921000"/>
            <a:ext cx="4800600" cy="332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自研关节驱动、机械结构、能源与热管理；四足和人形共享设计。垂直整合降低成本并缩短改型周期。</a:t>
            </a:r>
            <a:endParaRPr lang="en-US" sz="1600" noProof="1"/>
          </a:p>
        </p:txBody>
      </p:sp>
      <p:sp>
        <p:nvSpPr>
          <p:cNvPr id="10" name="control-bg"/>
          <p:cNvSpPr/>
          <p:nvPr/>
        </p:nvSpPr>
        <p:spPr>
          <a:xfrm>
            <a:off x="6286500" y="2413000"/>
            <a:ext cx="5207000" cy="393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" name="control-title"/>
          <p:cNvSpPr txBox="1"/>
          <p:nvPr/>
        </p:nvSpPr>
        <p:spPr>
          <a:xfrm>
            <a:off x="6489700" y="2540000"/>
            <a:ext cx="4800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小脑与运控</a:t>
            </a:r>
            <a:endParaRPr lang="en-US" sz="1600" noProof="1"/>
          </a:p>
        </p:txBody>
      </p:sp>
      <p:sp>
        <p:nvSpPr>
          <p:cNvPr id="12" name="control-body"/>
          <p:cNvSpPr txBox="1"/>
          <p:nvPr/>
        </p:nvSpPr>
        <p:spPr>
          <a:xfrm>
            <a:off x="6489700" y="2921000"/>
            <a:ext cx="4800600" cy="332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强化学习、模型控制与多传感融合支持高动态运动。运控与自有硬件深度适配，是最具辨识度的能力。</a:t>
            </a:r>
            <a:endParaRPr lang="en-US" sz="1600" noProof="1"/>
          </a:p>
        </p:txBody>
      </p:sp>
      <p:sp>
        <p:nvSpPr>
          <p:cNvPr id="13" name="brain-bg"/>
          <p:cNvSpPr/>
          <p:nvPr/>
        </p:nvSpPr>
        <p:spPr>
          <a:xfrm>
            <a:off x="11772900" y="2413000"/>
            <a:ext cx="5715000" cy="393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" name="brain-title"/>
          <p:cNvSpPr txBox="1"/>
          <p:nvPr/>
        </p:nvSpPr>
        <p:spPr>
          <a:xfrm>
            <a:off x="11976100" y="2540000"/>
            <a:ext cx="5308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大脑与数据</a:t>
            </a:r>
            <a:endParaRPr lang="en-US" sz="1600" noProof="1"/>
          </a:p>
        </p:txBody>
      </p:sp>
      <p:sp>
        <p:nvSpPr>
          <p:cNvPr id="15" name="brain-body"/>
          <p:cNvSpPr txBox="1"/>
          <p:nvPr/>
        </p:nvSpPr>
        <p:spPr>
          <a:xfrm>
            <a:off x="11976100" y="2921000"/>
            <a:ext cx="5308600" cy="332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WMA/VLA双线布局，已在自有工厂试点。大规模真实部署、数据闭环与跨场景泛化尚待验证。</a:t>
            </a:r>
            <a:endParaRPr lang="en-US" sz="1600" noProof="1"/>
          </a:p>
        </p:txBody>
      </p:sp>
      <p:sp>
        <p:nvSpPr>
          <p:cNvPr id="16" name="rd-staff-bg"/>
          <p:cNvSpPr/>
          <p:nvPr/>
        </p:nvSpPr>
        <p:spPr>
          <a:xfrm>
            <a:off x="800100" y="6921500"/>
            <a:ext cx="52070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" name="rd-staff-label"/>
          <p:cNvSpPr txBox="1"/>
          <p:nvPr/>
        </p:nvSpPr>
        <p:spPr>
          <a:xfrm>
            <a:off x="1003300" y="7099300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研发团队</a:t>
            </a:r>
            <a:endParaRPr lang="en-US" sz="1400" noProof="1"/>
          </a:p>
        </p:txBody>
      </p:sp>
      <p:sp>
        <p:nvSpPr>
          <p:cNvPr id="18" name="rd-staff-value"/>
          <p:cNvSpPr txBox="1"/>
          <p:nvPr/>
        </p:nvSpPr>
        <p:spPr>
          <a:xfrm>
            <a:off x="1003300" y="7454900"/>
            <a:ext cx="4800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184人</a:t>
            </a:r>
            <a:endParaRPr lang="en-US" sz="3600" noProof="1"/>
          </a:p>
        </p:txBody>
      </p:sp>
      <p:sp>
        <p:nvSpPr>
          <p:cNvPr id="19" name="rd-staff-note"/>
          <p:cNvSpPr txBox="1"/>
          <p:nvPr/>
        </p:nvSpPr>
        <p:spPr>
          <a:xfrm>
            <a:off x="1003300" y="8191500"/>
            <a:ext cx="4800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截至2025年末，占员工35.66%。</a:t>
            </a:r>
            <a:endParaRPr lang="en-US" sz="1600" noProof="1"/>
          </a:p>
        </p:txBody>
      </p:sp>
      <p:sp>
        <p:nvSpPr>
          <p:cNvPr id="20" name="patents-bg"/>
          <p:cNvSpPr/>
          <p:nvPr/>
        </p:nvSpPr>
        <p:spPr>
          <a:xfrm>
            <a:off x="6286500" y="6921500"/>
            <a:ext cx="52070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1" name="patents-label"/>
          <p:cNvSpPr txBox="1"/>
          <p:nvPr/>
        </p:nvSpPr>
        <p:spPr>
          <a:xfrm>
            <a:off x="6489700" y="7099300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注册专利</a:t>
            </a:r>
            <a:endParaRPr lang="en-US" sz="1400" noProof="1"/>
          </a:p>
        </p:txBody>
      </p:sp>
      <p:sp>
        <p:nvSpPr>
          <p:cNvPr id="22" name="patents-value"/>
          <p:cNvSpPr txBox="1"/>
          <p:nvPr/>
        </p:nvSpPr>
        <p:spPr>
          <a:xfrm>
            <a:off x="6489700" y="7454900"/>
            <a:ext cx="4800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262项</a:t>
            </a:r>
            <a:endParaRPr lang="en-US" sz="3600" noProof="1"/>
          </a:p>
        </p:txBody>
      </p:sp>
      <p:sp>
        <p:nvSpPr>
          <p:cNvPr id="23" name="patents-note"/>
          <p:cNvSpPr txBox="1"/>
          <p:nvPr/>
        </p:nvSpPr>
        <p:spPr>
          <a:xfrm>
            <a:off x="6489700" y="8191500"/>
            <a:ext cx="4800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截至2026-01-31；境内发明专利20项。</a:t>
            </a:r>
            <a:endParaRPr lang="en-US" sz="1600" noProof="1"/>
          </a:p>
        </p:txBody>
      </p:sp>
      <p:sp>
        <p:nvSpPr>
          <p:cNvPr id="24" name="tech-caveat-bg"/>
          <p:cNvSpPr/>
          <p:nvPr/>
        </p:nvSpPr>
        <p:spPr>
          <a:xfrm>
            <a:off x="11772900" y="6921500"/>
            <a:ext cx="5715000" cy="20828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25" name="tech-caveat-title"/>
          <p:cNvSpPr txBox="1"/>
          <p:nvPr/>
        </p:nvSpPr>
        <p:spPr>
          <a:xfrm>
            <a:off x="11976100" y="7048500"/>
            <a:ext cx="5308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证据边界</a:t>
            </a:r>
            <a:endParaRPr lang="en-US" sz="1600" noProof="1"/>
          </a:p>
        </p:txBody>
      </p:sp>
      <p:sp>
        <p:nvSpPr>
          <p:cNvPr id="26" name="tech-caveat-body"/>
          <p:cNvSpPr txBox="1"/>
          <p:nvPr/>
        </p:nvSpPr>
        <p:spPr>
          <a:xfrm>
            <a:off x="11976100" y="7429500"/>
            <a:ext cx="53086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中邮拆解认为单一硬件多为成熟可采购器件，核心差异化来自运控和系统集成。</a:t>
            </a:r>
            <a:endParaRPr lang="en-US" sz="1600" noProof="1"/>
          </a:p>
        </p:txBody>
      </p:sp>
      <p:sp>
        <p:nvSpPr>
          <p:cNvPr id="27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公司招股书注册稿PDF第247页及概览科创属性。2. 中邮《宇树G1人形机器人拆解报告》2026-03-30 PDF第53—54页。</a:t>
            </a:r>
            <a:endParaRPr lang="en-US" sz="1200" noProof="1"/>
          </a:p>
        </p:txBody>
      </p:sp>
      <p:sp>
        <p:nvSpPr>
          <p:cNvPr id="28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9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30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1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11</a:t>
            </a:r>
            <a:endParaRPr lang="en-US" sz="12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Two › Teardown Evidence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G1约2小时续航和2kg负载限定工业外推，4.16万元BOM证明成本取舍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拆解同时验证成本能力与场景边界，避免把高动态演示直接外推为重载生产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pic>
        <p:nvPicPr>
          <p:cNvPr id="6" name="g1-tear"/>
          <p:cNvPicPr/>
          <p:nvPr/>
        </p:nvPicPr>
        <p:blipFill>
          <a:blip r:embed="rId2"/>
          <a:srcRect t="-1250" b="-1250"/>
          <a:stretch>
            <a:fillRect/>
          </a:stretch>
        </p:blipFill>
        <p:spPr>
          <a:xfrm>
            <a:off x="800100" y="2159000"/>
            <a:ext cx="6096000" cy="5207000"/>
          </a:xfrm>
          <a:prstGeom prst="rect">
            <a:avLst/>
          </a:prstGeom>
          <a:ln>
            <a:noFill/>
          </a:ln>
        </p:spPr>
      </p:pic>
      <p:sp>
        <p:nvSpPr>
          <p:cNvPr id="7" name="g1-bom-bg"/>
          <p:cNvSpPr/>
          <p:nvPr/>
        </p:nvSpPr>
        <p:spPr>
          <a:xfrm>
            <a:off x="7366000" y="2159000"/>
            <a:ext cx="47625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" name="g1-bom-label"/>
          <p:cNvSpPr txBox="1"/>
          <p:nvPr/>
        </p:nvSpPr>
        <p:spPr>
          <a:xfrm>
            <a:off x="7569200" y="2336800"/>
            <a:ext cx="43561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中邮BOM估算</a:t>
            </a:r>
            <a:endParaRPr lang="en-US" sz="1400" noProof="1"/>
          </a:p>
        </p:txBody>
      </p:sp>
      <p:sp>
        <p:nvSpPr>
          <p:cNvPr id="9" name="g1-bom-value"/>
          <p:cNvSpPr txBox="1"/>
          <p:nvPr/>
        </p:nvSpPr>
        <p:spPr>
          <a:xfrm>
            <a:off x="7569200" y="2692400"/>
            <a:ext cx="43561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4.16万元</a:t>
            </a:r>
            <a:endParaRPr lang="en-US" sz="3600" noProof="1"/>
          </a:p>
        </p:txBody>
      </p:sp>
      <p:sp>
        <p:nvSpPr>
          <p:cNvPr id="10" name="g1-bom-note"/>
          <p:cNvSpPr txBox="1"/>
          <p:nvPr/>
        </p:nvSpPr>
        <p:spPr>
          <a:xfrm>
            <a:off x="7569200" y="3429000"/>
            <a:ext cx="43561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基础版；另估加工费0.30万元。</a:t>
            </a:r>
            <a:endParaRPr lang="en-US" sz="1600" noProof="1"/>
          </a:p>
        </p:txBody>
      </p:sp>
      <p:sp>
        <p:nvSpPr>
          <p:cNvPr id="11" name="g1-hours-bg"/>
          <p:cNvSpPr/>
          <p:nvPr/>
        </p:nvSpPr>
        <p:spPr>
          <a:xfrm>
            <a:off x="12446000" y="2159000"/>
            <a:ext cx="50419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" name="g1-hours-label"/>
          <p:cNvSpPr txBox="1"/>
          <p:nvPr/>
        </p:nvSpPr>
        <p:spPr>
          <a:xfrm>
            <a:off x="12649200" y="2336800"/>
            <a:ext cx="4635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官方续航</a:t>
            </a:r>
            <a:endParaRPr lang="en-US" sz="1400" noProof="1"/>
          </a:p>
        </p:txBody>
      </p:sp>
      <p:sp>
        <p:nvSpPr>
          <p:cNvPr id="13" name="g1-hours-value"/>
          <p:cNvSpPr txBox="1"/>
          <p:nvPr/>
        </p:nvSpPr>
        <p:spPr>
          <a:xfrm>
            <a:off x="12649200" y="2692400"/>
            <a:ext cx="4635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约2小时</a:t>
            </a:r>
            <a:endParaRPr lang="en-US" sz="3600" noProof="1"/>
          </a:p>
        </p:txBody>
      </p:sp>
      <p:sp>
        <p:nvSpPr>
          <p:cNvPr id="14" name="g1-hours-note"/>
          <p:cNvSpPr txBox="1"/>
          <p:nvPr/>
        </p:nvSpPr>
        <p:spPr>
          <a:xfrm>
            <a:off x="12649200" y="3429000"/>
            <a:ext cx="4635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G1官方参数；实际随场景与配置变化。</a:t>
            </a:r>
            <a:endParaRPr lang="en-US" sz="1600" noProof="1"/>
          </a:p>
        </p:txBody>
      </p:sp>
      <p:sp>
        <p:nvSpPr>
          <p:cNvPr id="15" name="g1-load-bg"/>
          <p:cNvSpPr/>
          <p:nvPr/>
        </p:nvSpPr>
        <p:spPr>
          <a:xfrm>
            <a:off x="7366000" y="4699000"/>
            <a:ext cx="47625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" name="g1-load-label"/>
          <p:cNvSpPr txBox="1"/>
          <p:nvPr/>
        </p:nvSpPr>
        <p:spPr>
          <a:xfrm>
            <a:off x="7569200" y="4876800"/>
            <a:ext cx="43561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官方单臂负载</a:t>
            </a:r>
            <a:endParaRPr lang="en-US" sz="1400" noProof="1"/>
          </a:p>
        </p:txBody>
      </p:sp>
      <p:sp>
        <p:nvSpPr>
          <p:cNvPr id="17" name="g1-load-value"/>
          <p:cNvSpPr txBox="1"/>
          <p:nvPr/>
        </p:nvSpPr>
        <p:spPr>
          <a:xfrm>
            <a:off x="7569200" y="5232400"/>
            <a:ext cx="43561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约2kg</a:t>
            </a:r>
            <a:endParaRPr lang="en-US" sz="3600" noProof="1"/>
          </a:p>
        </p:txBody>
      </p:sp>
      <p:sp>
        <p:nvSpPr>
          <p:cNvPr id="18" name="g1-load-note"/>
          <p:cNvSpPr txBox="1"/>
          <p:nvPr/>
        </p:nvSpPr>
        <p:spPr>
          <a:xfrm>
            <a:off x="7569200" y="5969000"/>
            <a:ext cx="43561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标准G1；EDU版约3kg。</a:t>
            </a:r>
            <a:endParaRPr lang="en-US" sz="1600" noProof="1"/>
          </a:p>
        </p:txBody>
      </p:sp>
      <p:sp>
        <p:nvSpPr>
          <p:cNvPr id="19" name="g1-gm-bg"/>
          <p:cNvSpPr/>
          <p:nvPr/>
        </p:nvSpPr>
        <p:spPr>
          <a:xfrm>
            <a:off x="12446000" y="4699000"/>
            <a:ext cx="50419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" name="g1-gm-label"/>
          <p:cNvSpPr txBox="1"/>
          <p:nvPr/>
        </p:nvSpPr>
        <p:spPr>
          <a:xfrm>
            <a:off x="12649200" y="4876800"/>
            <a:ext cx="4635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基础版估算毛利率</a:t>
            </a:r>
            <a:endParaRPr lang="en-US" sz="1400" noProof="1"/>
          </a:p>
        </p:txBody>
      </p:sp>
      <p:sp>
        <p:nvSpPr>
          <p:cNvPr id="21" name="g1-gm-value"/>
          <p:cNvSpPr txBox="1"/>
          <p:nvPr/>
        </p:nvSpPr>
        <p:spPr>
          <a:xfrm>
            <a:off x="12649200" y="5232400"/>
            <a:ext cx="4635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40.7%</a:t>
            </a:r>
            <a:endParaRPr lang="en-US" sz="3600" noProof="1"/>
          </a:p>
        </p:txBody>
      </p:sp>
      <p:sp>
        <p:nvSpPr>
          <p:cNvPr id="22" name="g1-gm-note"/>
          <p:cNvSpPr txBox="1"/>
          <p:nvPr/>
        </p:nvSpPr>
        <p:spPr>
          <a:xfrm>
            <a:off x="12649200" y="5969000"/>
            <a:ext cx="4635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中邮测算，非公司披露。</a:t>
            </a:r>
            <a:endParaRPr lang="en-US" sz="1600" noProof="1"/>
          </a:p>
        </p:txBody>
      </p:sp>
      <p:sp>
        <p:nvSpPr>
          <p:cNvPr id="23" name="tear-note-bg"/>
          <p:cNvSpPr/>
          <p:nvPr/>
        </p:nvSpPr>
        <p:spPr>
          <a:xfrm>
            <a:off x="800100" y="7747000"/>
            <a:ext cx="16687800" cy="825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24" name="tear-note-title"/>
          <p:cNvSpPr txBox="1"/>
          <p:nvPr/>
        </p:nvSpPr>
        <p:spPr>
          <a:xfrm>
            <a:off x="1003300" y="7874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设计取舍</a:t>
            </a:r>
            <a:endParaRPr lang="en-US" sz="1600" noProof="1"/>
          </a:p>
        </p:txBody>
      </p:sp>
      <p:sp>
        <p:nvSpPr>
          <p:cNvPr id="25" name="tear-note-body"/>
          <p:cNvSpPr txBox="1"/>
          <p:nvPr/>
        </p:nvSpPr>
        <p:spPr>
          <a:xfrm>
            <a:off x="1003300" y="8255000"/>
            <a:ext cx="16281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轻量、低成本与高动态适合科研和展示；连续工业作业需要另行验证热管理、负载、耐久和服务能力。</a:t>
            </a:r>
            <a:endParaRPr lang="en-US" sz="1600" noProof="1"/>
          </a:p>
        </p:txBody>
      </p:sp>
      <p:sp>
        <p:nvSpPr>
          <p:cNvPr id="26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中邮《宇树G1人形机器人拆解报告》2026-03-30 PDF第12—13、50—54页。2. Unitree G1官方参数页。</a:t>
            </a:r>
            <a:endParaRPr lang="en-US" sz="1200" noProof="1"/>
          </a:p>
        </p:txBody>
      </p:sp>
      <p:sp>
        <p:nvSpPr>
          <p:cNvPr id="27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8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9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0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12</a:t>
            </a:r>
            <a:endParaRPr lang="en-US" sz="12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Two › Embodied AI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LIBERO得分98.7不等于规模部署，20.22亿元模型募投仍待真实场景兑现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模型价值最终由真实任务成功率、持续运行和客户复购定价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model-h"/>
          <p:cNvSpPr txBox="1"/>
          <p:nvPr/>
        </p:nvSpPr>
        <p:spPr>
          <a:xfrm>
            <a:off x="825500" y="1943100"/>
            <a:ext cx="1079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模型能力：公开测试、试点部署、规模商业化是三道不同门槛</a:t>
            </a:r>
            <a:endParaRPr lang="en-US" sz="1800" noProof="1"/>
          </a:p>
        </p:txBody>
      </p:sp>
      <p:sp>
        <p:nvSpPr>
          <p:cNvPr id="7" name="libero-bg"/>
          <p:cNvSpPr/>
          <p:nvPr/>
        </p:nvSpPr>
        <p:spPr>
          <a:xfrm>
            <a:off x="800100" y="2413000"/>
            <a:ext cx="52070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" name="libero-label"/>
          <p:cNvSpPr txBox="1"/>
          <p:nvPr/>
        </p:nvSpPr>
        <p:spPr>
          <a:xfrm>
            <a:off x="1003300" y="2590800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LIBERO公开基准</a:t>
            </a:r>
            <a:endParaRPr lang="en-US" sz="1400" noProof="1"/>
          </a:p>
        </p:txBody>
      </p:sp>
      <p:sp>
        <p:nvSpPr>
          <p:cNvPr id="9" name="libero-value"/>
          <p:cNvSpPr txBox="1"/>
          <p:nvPr/>
        </p:nvSpPr>
        <p:spPr>
          <a:xfrm>
            <a:off x="1003300" y="2946400"/>
            <a:ext cx="4800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98.7分</a:t>
            </a:r>
            <a:endParaRPr lang="en-US" sz="3600" noProof="1"/>
          </a:p>
        </p:txBody>
      </p:sp>
      <p:sp>
        <p:nvSpPr>
          <p:cNvPr id="10" name="libero-note"/>
          <p:cNvSpPr txBox="1"/>
          <p:nvPr/>
        </p:nvSpPr>
        <p:spPr>
          <a:xfrm>
            <a:off x="1003300" y="3683000"/>
            <a:ext cx="4800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公司披露UnifoLM-VLA-0平均分。</a:t>
            </a:r>
            <a:endParaRPr lang="en-US" sz="1600" noProof="1"/>
          </a:p>
        </p:txBody>
      </p:sp>
      <p:sp>
        <p:nvSpPr>
          <p:cNvPr id="11" name="pilot-bg"/>
          <p:cNvSpPr/>
          <p:nvPr/>
        </p:nvSpPr>
        <p:spPr>
          <a:xfrm>
            <a:off x="6286500" y="2413000"/>
            <a:ext cx="5207000" cy="292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" name="pilot-title"/>
          <p:cNvSpPr txBox="1"/>
          <p:nvPr/>
        </p:nvSpPr>
        <p:spPr>
          <a:xfrm>
            <a:off x="6489700" y="2540000"/>
            <a:ext cx="4800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当前证据</a:t>
            </a:r>
            <a:endParaRPr lang="en-US" sz="1600" noProof="1"/>
          </a:p>
        </p:txBody>
      </p:sp>
      <p:sp>
        <p:nvSpPr>
          <p:cNvPr id="13" name="pilot-body"/>
          <p:cNvSpPr txBox="1"/>
          <p:nvPr/>
        </p:nvSpPr>
        <p:spPr>
          <a:xfrm>
            <a:off x="6489700" y="2921000"/>
            <a:ext cx="4800600" cy="2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UnifoLM-X1-0在自有工厂完成关节电机装配试点；通用具身大模型尚未规模化应用于销售产品。</a:t>
            </a:r>
            <a:endParaRPr lang="en-US" sz="1600" noProof="1"/>
          </a:p>
        </p:txBody>
      </p:sp>
      <p:sp>
        <p:nvSpPr>
          <p:cNvPr id="14" name="fund-bg"/>
          <p:cNvSpPr/>
          <p:nvPr/>
        </p:nvSpPr>
        <p:spPr>
          <a:xfrm>
            <a:off x="11772900" y="2413000"/>
            <a:ext cx="5715000" cy="292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fund-title"/>
          <p:cNvSpPr txBox="1"/>
          <p:nvPr/>
        </p:nvSpPr>
        <p:spPr>
          <a:xfrm>
            <a:off x="11976100" y="2540000"/>
            <a:ext cx="5308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资金投入</a:t>
            </a:r>
            <a:endParaRPr lang="en-US" sz="1600" noProof="1"/>
          </a:p>
        </p:txBody>
      </p:sp>
      <p:sp>
        <p:nvSpPr>
          <p:cNvPr id="16" name="fund-body"/>
          <p:cNvSpPr txBox="1"/>
          <p:nvPr/>
        </p:nvSpPr>
        <p:spPr>
          <a:xfrm>
            <a:off x="11976100" y="2921000"/>
            <a:ext cx="5308600" cy="2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模型研发募投20.22亿元，占计划募投48.13%；资金加强研发，不保证技术或商业结果。</a:t>
            </a:r>
            <a:endParaRPr lang="en-US" sz="1600" noProof="1"/>
          </a:p>
        </p:txBody>
      </p:sp>
      <p:sp>
        <p:nvSpPr>
          <p:cNvPr id="17" name="maturity-bg"/>
          <p:cNvSpPr/>
          <p:nvPr/>
        </p:nvSpPr>
        <p:spPr>
          <a:xfrm>
            <a:off x="800100" y="5778500"/>
            <a:ext cx="16687800" cy="254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8" name="maturity-title"/>
          <p:cNvSpPr txBox="1"/>
          <p:nvPr/>
        </p:nvSpPr>
        <p:spPr>
          <a:xfrm>
            <a:off x="1003300" y="59055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投委会跟踪方法</a:t>
            </a:r>
            <a:endParaRPr lang="en-US" sz="1600" noProof="1"/>
          </a:p>
        </p:txBody>
      </p:sp>
      <p:sp>
        <p:nvSpPr>
          <p:cNvPr id="19" name="maturity-body"/>
          <p:cNvSpPr txBox="1"/>
          <p:nvPr/>
        </p:nvSpPr>
        <p:spPr>
          <a:xfrm>
            <a:off x="1003300" y="6286500"/>
            <a:ext cx="16281400" cy="19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把模型进展拆成四个可观察层级：公开基准→单次演示→真实客户连续作业→跨客户复购与规模部署。当前公开材料主要支持前两层及部分自有工厂试点，不能用仿真分数替代第三、四层。</a:t>
            </a:r>
            <a:endParaRPr lang="en-US" sz="1600" noProof="1"/>
          </a:p>
        </p:txBody>
      </p:sp>
      <p:sp>
        <p:nvSpPr>
          <p:cNvPr id="20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公司第二轮问询回复PDF第13—19页。2. 公司招股书注册稿PDF第245页。3. 东吴报告2026-08-09 PDF第26—28页。</a:t>
            </a:r>
            <a:endParaRPr lang="en-US" sz="1200" noProof="1"/>
          </a:p>
        </p:txBody>
      </p:sp>
      <p:sp>
        <p:nvSpPr>
          <p:cNvPr id="21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2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3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4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13</a:t>
            </a:r>
            <a:endParaRPr lang="en-U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Two › Ecosystem &amp; Governance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境外收入占43.65%提供全球验证，也特别表决权集中68.78%带来治理约束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全球开发者生态增强分发，治理和跨境合规进入估值折价项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eco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全球开发者生态提供分发优势，治理结构需单独计价</a:t>
            </a:r>
            <a:endParaRPr lang="en-US" sz="1800" noProof="1"/>
          </a:p>
        </p:txBody>
      </p:sp>
      <p:sp>
        <p:nvSpPr>
          <p:cNvPr id="7" name="overseas-bg"/>
          <p:cNvSpPr/>
          <p:nvPr/>
        </p:nvSpPr>
        <p:spPr>
          <a:xfrm>
            <a:off x="800100" y="2413000"/>
            <a:ext cx="52070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" name="overseas-label"/>
          <p:cNvSpPr txBox="1"/>
          <p:nvPr/>
        </p:nvSpPr>
        <p:spPr>
          <a:xfrm>
            <a:off x="1003300" y="2590800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2025境外收入占比</a:t>
            </a:r>
            <a:endParaRPr lang="en-US" sz="1400" noProof="1"/>
          </a:p>
        </p:txBody>
      </p:sp>
      <p:sp>
        <p:nvSpPr>
          <p:cNvPr id="9" name="overseas-value"/>
          <p:cNvSpPr txBox="1"/>
          <p:nvPr/>
        </p:nvSpPr>
        <p:spPr>
          <a:xfrm>
            <a:off x="1003300" y="2946400"/>
            <a:ext cx="4800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43.65%</a:t>
            </a:r>
            <a:endParaRPr lang="en-US" sz="3600" noProof="1"/>
          </a:p>
        </p:txBody>
      </p:sp>
      <p:sp>
        <p:nvSpPr>
          <p:cNvPr id="10" name="overseas-note"/>
          <p:cNvSpPr txBox="1"/>
          <p:nvPr/>
        </p:nvSpPr>
        <p:spPr>
          <a:xfrm>
            <a:off x="1003300" y="3683000"/>
            <a:ext cx="4800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海外市场是实际收入来源，非概念性全球化。</a:t>
            </a:r>
            <a:endParaRPr lang="en-US" sz="1600" noProof="1"/>
          </a:p>
        </p:txBody>
      </p:sp>
      <p:sp>
        <p:nvSpPr>
          <p:cNvPr id="11" name="eco-system-bg"/>
          <p:cNvSpPr/>
          <p:nvPr/>
        </p:nvSpPr>
        <p:spPr>
          <a:xfrm>
            <a:off x="6286500" y="2413000"/>
            <a:ext cx="5207000" cy="317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" name="eco-system-title"/>
          <p:cNvSpPr txBox="1"/>
          <p:nvPr/>
        </p:nvSpPr>
        <p:spPr>
          <a:xfrm>
            <a:off x="6489700" y="2540000"/>
            <a:ext cx="4800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生态证据</a:t>
            </a:r>
            <a:endParaRPr lang="en-US" sz="1600" noProof="1"/>
          </a:p>
        </p:txBody>
      </p:sp>
      <p:sp>
        <p:nvSpPr>
          <p:cNvPr id="13" name="eco-system-body"/>
          <p:cNvSpPr txBox="1"/>
          <p:nvPr/>
        </p:nvSpPr>
        <p:spPr>
          <a:xfrm>
            <a:off x="6489700" y="2921000"/>
            <a:ext cx="4800600" cy="256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科研教育客户、二次开发接口与开源工具链降低使用门槛；东吴统计上千篇IEEE会议论文以宇树为研究平台。</a:t>
            </a:r>
            <a:endParaRPr lang="en-US" sz="1600" noProof="1"/>
          </a:p>
        </p:txBody>
      </p:sp>
      <p:sp>
        <p:nvSpPr>
          <p:cNvPr id="14" name="governance-bg"/>
          <p:cNvSpPr/>
          <p:nvPr/>
        </p:nvSpPr>
        <p:spPr>
          <a:xfrm>
            <a:off x="11772900" y="2413000"/>
            <a:ext cx="5715000" cy="317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governance-title"/>
          <p:cNvSpPr txBox="1"/>
          <p:nvPr/>
        </p:nvSpPr>
        <p:spPr>
          <a:xfrm>
            <a:off x="11976100" y="2540000"/>
            <a:ext cx="5308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治理约束</a:t>
            </a:r>
            <a:endParaRPr lang="en-US" sz="1600" noProof="1"/>
          </a:p>
        </p:txBody>
      </p:sp>
      <p:sp>
        <p:nvSpPr>
          <p:cNvPr id="16" name="governance-body"/>
          <p:cNvSpPr txBox="1"/>
          <p:nvPr/>
        </p:nvSpPr>
        <p:spPr>
          <a:xfrm>
            <a:off x="11976100" y="2921000"/>
            <a:ext cx="5308600" cy="256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王兴兴通过特别表决权安排合计控制68.78%表决权。长期战略稳定与少数股东影响受限需要同时考虑。</a:t>
            </a:r>
            <a:endParaRPr lang="en-US" sz="1600" noProof="1"/>
          </a:p>
        </p:txBody>
      </p:sp>
      <p:sp>
        <p:nvSpPr>
          <p:cNvPr id="17" name="eco-risk-bg"/>
          <p:cNvSpPr/>
          <p:nvPr/>
        </p:nvSpPr>
        <p:spPr>
          <a:xfrm>
            <a:off x="800100" y="6096000"/>
            <a:ext cx="16687800" cy="2222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8" name="eco-risk-title"/>
          <p:cNvSpPr txBox="1"/>
          <p:nvPr/>
        </p:nvSpPr>
        <p:spPr>
          <a:xfrm>
            <a:off x="1003300" y="6223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全球化的两面</a:t>
            </a:r>
            <a:endParaRPr lang="en-US" sz="1600" noProof="1"/>
          </a:p>
        </p:txBody>
      </p:sp>
      <p:sp>
        <p:nvSpPr>
          <p:cNvPr id="19" name="eco-risk-body"/>
          <p:cNvSpPr txBox="1"/>
          <p:nvPr/>
        </p:nvSpPr>
        <p:spPr>
          <a:xfrm>
            <a:off x="1003300" y="6604000"/>
            <a:ext cx="16281400" cy="161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境外客户验证产品通用性，也带来汇率、贸易限制和合规风险。公司披露2025年汇兑损失2253.86万元；需跟踪区域收入、交付和售后，而非只看出货。</a:t>
            </a:r>
            <a:endParaRPr lang="en-US" sz="1600" noProof="1"/>
          </a:p>
        </p:txBody>
      </p:sp>
      <p:sp>
        <p:nvSpPr>
          <p:cNvPr id="20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公司招股书注册稿PDF第202、213页及特别表决权章节。2. 东吴报告2026-08-09 PDF第19—20页。</a:t>
            </a:r>
            <a:endParaRPr lang="en-US" sz="1200" noProof="1"/>
          </a:p>
        </p:txBody>
      </p:sp>
      <p:sp>
        <p:nvSpPr>
          <p:cNvPr id="21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2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3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4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14</a:t>
            </a:r>
            <a:endParaRPr lang="en-US" sz="12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Three › Financial Performance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收入三年增长10.7倍后，2026H1增速回落至48.54%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收入体量已上台阶，预测重心从低基数扩张转为持续交付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rev-h"/>
          <p:cNvSpPr txBox="1"/>
          <p:nvPr/>
        </p:nvSpPr>
        <p:spPr>
          <a:xfrm>
            <a:off x="825500" y="1943100"/>
            <a:ext cx="952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营业收入：高速增长后的增速正常化</a:t>
            </a:r>
            <a:endParaRPr lang="en-US" sz="1800" noProof="1"/>
          </a:p>
        </p:txBody>
      </p:sp>
      <p:graphicFrame>
        <p:nvGraphicFramePr>
          <p:cNvPr id="7" name="rev-chart"/>
          <p:cNvGraphicFramePr/>
          <p:nvPr/>
        </p:nvGraphicFramePr>
        <p:xfrm>
          <a:off x="800100" y="2413000"/>
          <a:ext cx="10033000" cy="5080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rev-cagr-bg"/>
          <p:cNvSpPr/>
          <p:nvPr/>
        </p:nvSpPr>
        <p:spPr>
          <a:xfrm>
            <a:off x="11430000" y="2413000"/>
            <a:ext cx="60579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rev-cagr-label"/>
          <p:cNvSpPr txBox="1"/>
          <p:nvPr/>
        </p:nvSpPr>
        <p:spPr>
          <a:xfrm>
            <a:off x="11633200" y="2590800"/>
            <a:ext cx="5651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2022—2025 CAGR</a:t>
            </a:r>
            <a:endParaRPr lang="en-US" sz="1400" noProof="1"/>
          </a:p>
        </p:txBody>
      </p:sp>
      <p:sp>
        <p:nvSpPr>
          <p:cNvPr id="10" name="rev-cagr-value"/>
          <p:cNvSpPr txBox="1"/>
          <p:nvPr/>
        </p:nvSpPr>
        <p:spPr>
          <a:xfrm>
            <a:off x="11633200" y="2946400"/>
            <a:ext cx="5651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约140%</a:t>
            </a:r>
            <a:endParaRPr lang="en-US" sz="3600" noProof="1"/>
          </a:p>
        </p:txBody>
      </p:sp>
      <p:sp>
        <p:nvSpPr>
          <p:cNvPr id="11" name="rev-cagr-note"/>
          <p:cNvSpPr txBox="1"/>
          <p:nvPr/>
        </p:nvSpPr>
        <p:spPr>
          <a:xfrm>
            <a:off x="11633200" y="3683000"/>
            <a:ext cx="5651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低基数与2025放量共同驱动。</a:t>
            </a:r>
            <a:endParaRPr lang="en-US" sz="1600" noProof="1"/>
          </a:p>
        </p:txBody>
      </p:sp>
      <p:sp>
        <p:nvSpPr>
          <p:cNvPr id="12" name="rev-h1yoy-bg"/>
          <p:cNvSpPr/>
          <p:nvPr/>
        </p:nvSpPr>
        <p:spPr>
          <a:xfrm>
            <a:off x="11430000" y="4953000"/>
            <a:ext cx="60579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" name="rev-h1yoy-label"/>
          <p:cNvSpPr txBox="1"/>
          <p:nvPr/>
        </p:nvSpPr>
        <p:spPr>
          <a:xfrm>
            <a:off x="11633200" y="5130800"/>
            <a:ext cx="5651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2026H1同比</a:t>
            </a:r>
            <a:endParaRPr lang="en-US" sz="1400" noProof="1"/>
          </a:p>
        </p:txBody>
      </p:sp>
      <p:sp>
        <p:nvSpPr>
          <p:cNvPr id="14" name="rev-h1yoy-value"/>
          <p:cNvSpPr txBox="1"/>
          <p:nvPr/>
        </p:nvSpPr>
        <p:spPr>
          <a:xfrm>
            <a:off x="11633200" y="5486400"/>
            <a:ext cx="5651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+48.54%</a:t>
            </a:r>
            <a:endParaRPr lang="en-US" sz="3600" noProof="1"/>
          </a:p>
        </p:txBody>
      </p:sp>
      <p:sp>
        <p:nvSpPr>
          <p:cNvPr id="15" name="rev-h1yoy-note"/>
          <p:cNvSpPr txBox="1"/>
          <p:nvPr/>
        </p:nvSpPr>
        <p:spPr>
          <a:xfrm>
            <a:off x="11633200" y="6223000"/>
            <a:ext cx="5651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仍高增长，但较2025全年+332.64%明显回落。</a:t>
            </a:r>
            <a:endParaRPr lang="en-US" sz="1600" noProof="1"/>
          </a:p>
        </p:txBody>
      </p:sp>
      <p:sp>
        <p:nvSpPr>
          <p:cNvPr id="16" name="rev-note-bg"/>
          <p:cNvSpPr/>
          <p:nvPr/>
        </p:nvSpPr>
        <p:spPr>
          <a:xfrm>
            <a:off x="800100" y="7937500"/>
            <a:ext cx="16687800" cy="69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" name="rev-note-title"/>
          <p:cNvSpPr txBox="1"/>
          <p:nvPr/>
        </p:nvSpPr>
        <p:spPr>
          <a:xfrm>
            <a:off x="1003300" y="80645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判断</a:t>
            </a:r>
            <a:endParaRPr lang="en-US" sz="1600" noProof="1"/>
          </a:p>
        </p:txBody>
      </p:sp>
      <p:sp>
        <p:nvSpPr>
          <p:cNvPr id="18" name="rev-note-body"/>
          <p:cNvSpPr txBox="1"/>
          <p:nvPr/>
        </p:nvSpPr>
        <p:spPr>
          <a:xfrm>
            <a:off x="1003300" y="8445500"/>
            <a:ext cx="16281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历史增长证明需求与交付，未来估值应使用较正常的增速区间并检验下半年再加速假设。</a:t>
            </a:r>
            <a:endParaRPr lang="en-US" sz="1600" noProof="1"/>
          </a:p>
        </p:txBody>
      </p:sp>
      <p:sp>
        <p:nvSpPr>
          <p:cNvPr id="19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2022—2025来自东吴报告PDF第9页；2026H1来自上市公告书PDF第36页。2. CAGR与倍数为团队计算。</a:t>
            </a:r>
            <a:endParaRPr lang="en-US" sz="1200" noProof="1"/>
          </a:p>
        </p:txBody>
      </p:sp>
      <p:sp>
        <p:nvSpPr>
          <p:cNvPr id="20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1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2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3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15</a:t>
            </a:r>
            <a:endParaRPr lang="en-US" sz="1200" noProof="1"/>
          </a:p>
        </p:txBody>
      </p:sp>
      <p:sp>
        <p:nvSpPr>
          <p:cNvPr id="24" name="cagr-rev-chart-line-0-3"/>
          <p:cNvSpPr/>
          <p:nvPr>
            <p:extLst>
              <p:ext uri="{F5677B7D-0D2A-4D9B-9A5C-6D8D7D0E5A5D}">
                <pptd:line encoding="base64url">eyJ2aWV3Qm94IjpbNDQzLjE4LDI2Ny40XSwicG9pbnRzIjoiMCwyNjcuNCA0NDMuMTgsMCIsImN1cnZlIjoic2hhcnAifQ</pptd:line>
              </p:ext>
            </p:extLst>
          </p:nvPr>
        </p:nvSpPr>
        <p:spPr>
          <a:xfrm>
            <a:off x="2315337" y="2637917"/>
            <a:ext cx="5628386" cy="3395980"/>
          </a:xfrm>
          <a:custGeom>
            <a:avLst/>
            <a:gdLst/>
            <a:ahLst/>
            <a:cxnLst/>
            <a:rect l="l" t="t" r="r" b="b"/>
            <a:pathLst>
              <a:path w="443" h="267">
                <a:moveTo>
                  <a:pt x="0" y="267"/>
                </a:moveTo>
                <a:lnTo>
                  <a:pt x="443" y="0"/>
                </a:lnTo>
              </a:path>
            </a:pathLst>
          </a:custGeom>
          <a:noFill/>
          <a:ln w="19050">
            <a:solidFill>
              <a:srgbClr val="051C2C"/>
            </a:solidFill>
            <a:tailEnd type="arrow"/>
          </a:ln>
        </p:spPr>
      </p:sp>
      <p:sp>
        <p:nvSpPr>
          <p:cNvPr id="25" name="cagr-rev-chart-bubble-0-3"/>
          <p:cNvSpPr/>
          <p:nvPr/>
        </p:nvSpPr>
        <p:spPr>
          <a:xfrm>
            <a:off x="4639818" y="4185539"/>
            <a:ext cx="762000" cy="431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</p:sp>
      <p:sp>
        <p:nvSpPr>
          <p:cNvPr id="26" name="cagr-rev-chart-bubble-0-3-txt"/>
          <p:cNvSpPr txBox="1"/>
          <p:nvPr/>
        </p:nvSpPr>
        <p:spPr>
          <a:xfrm>
            <a:off x="4639818" y="4185539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051C2C"/>
                </a:solidFill>
                <a:latin typeface="Arial"/>
                <a:ea typeface="Arial"/>
              </a:rPr>
              <a:t>140%</a:t>
            </a:r>
            <a:endParaRPr lang="en-US" sz="14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Three › Margin &amp; Cost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2025年毛利率60.44%证明降本，人形均价下行使60%附近更需验证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成本优势已兑现，价格、SKU与费用投入决定下一阶段利润弹性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gm-h"/>
          <p:cNvSpPr txBox="1"/>
          <p:nvPr/>
        </p:nvSpPr>
        <p:spPr>
          <a:xfrm>
            <a:off x="825500" y="19431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综合毛利率与分产品毛利</a:t>
            </a:r>
            <a:endParaRPr lang="en-US" sz="1800" noProof="1"/>
          </a:p>
        </p:txBody>
      </p:sp>
      <p:graphicFrame>
        <p:nvGraphicFramePr>
          <p:cNvPr id="7" name="gm-chart"/>
          <p:cNvGraphicFramePr/>
          <p:nvPr/>
        </p:nvGraphicFramePr>
        <p:xfrm>
          <a:off x="800100" y="2413000"/>
          <a:ext cx="9144000" cy="4572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gm-table-h0"/>
          <p:cNvSpPr txBox="1"/>
          <p:nvPr/>
        </p:nvSpPr>
        <p:spPr>
          <a:xfrm>
            <a:off x="10541000" y="2413000"/>
            <a:ext cx="322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2025A分部</a:t>
            </a:r>
            <a:endParaRPr lang="en-US" sz="1400" noProof="1"/>
          </a:p>
        </p:txBody>
      </p:sp>
      <p:sp>
        <p:nvSpPr>
          <p:cNvPr id="9" name="gm-table-h1"/>
          <p:cNvSpPr txBox="1"/>
          <p:nvPr/>
        </p:nvSpPr>
        <p:spPr>
          <a:xfrm>
            <a:off x="13843000" y="24130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毛利率</a:t>
            </a:r>
            <a:endParaRPr lang="en-US" sz="1400" noProof="1"/>
          </a:p>
        </p:txBody>
      </p:sp>
      <p:sp>
        <p:nvSpPr>
          <p:cNvPr id="10" name="gm-table-hr0"/>
          <p:cNvSpPr/>
          <p:nvPr>
            <p:extLst>
              <p:ext uri="{F5677B7D-0D2A-4D9B-9A5C-6D8D7D0E5A5D}">
                <pptd:line encoding="base64url">eyJ2aWV3Qm94IjpbNDgwLDAuOF0sInBvaW50cyI6IjAsMC40IDQ4MCwwLjQiLCJjdXJ2ZSI6InNoYXJwIn0</pptd:line>
              </p:ext>
            </p:extLst>
          </p:nvPr>
        </p:nvSpPr>
        <p:spPr>
          <a:xfrm>
            <a:off x="10541000" y="2730500"/>
            <a:ext cx="6096000" cy="10160"/>
          </a:xfrm>
          <a:custGeom>
            <a:avLst/>
            <a:gdLst/>
            <a:ahLst/>
            <a:cxnLst/>
            <a:rect l="l" t="t" r="r" b="b"/>
            <a:pathLst>
              <a:path w="480" h="1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11" name="gm-table-r0c0"/>
          <p:cNvSpPr txBox="1"/>
          <p:nvPr/>
        </p:nvSpPr>
        <p:spPr>
          <a:xfrm>
            <a:off x="10541000" y="2794000"/>
            <a:ext cx="3225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人形机器人</a:t>
            </a:r>
            <a:endParaRPr lang="en-US" sz="1600" noProof="1"/>
          </a:p>
        </p:txBody>
      </p:sp>
      <p:sp>
        <p:nvSpPr>
          <p:cNvPr id="12" name="gm-table-r0c1"/>
          <p:cNvSpPr txBox="1"/>
          <p:nvPr/>
        </p:nvSpPr>
        <p:spPr>
          <a:xfrm>
            <a:off x="13843000" y="2794000"/>
            <a:ext cx="2717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63.18%</a:t>
            </a:r>
            <a:endParaRPr lang="en-US" sz="1600" noProof="1"/>
          </a:p>
        </p:txBody>
      </p:sp>
      <p:sp>
        <p:nvSpPr>
          <p:cNvPr id="13" name="gm-table-hr1"/>
          <p:cNvSpPr/>
          <p:nvPr>
            <p:extLst>
              <p:ext uri="{F5677B7D-0D2A-4D9B-9A5C-6D8D7D0E5A5D}">
                <pptd:line encoding="base64url">eyJ2aWV3Qm94IjpbNDgwLDAuOF0sInBvaW50cyI6IjAsMC40IDQ4MCwwLjQiLCJjdXJ2ZSI6InNoYXJwIn0</pptd:line>
              </p:ext>
            </p:extLst>
          </p:nvPr>
        </p:nvSpPr>
        <p:spPr>
          <a:xfrm>
            <a:off x="10541000" y="3467100"/>
            <a:ext cx="6096000" cy="10160"/>
          </a:xfrm>
          <a:custGeom>
            <a:avLst/>
            <a:gdLst/>
            <a:ahLst/>
            <a:cxnLst/>
            <a:rect l="l" t="t" r="r" b="b"/>
            <a:pathLst>
              <a:path w="480" h="1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4" name="gm-table-r1c0"/>
          <p:cNvSpPr txBox="1"/>
          <p:nvPr/>
        </p:nvSpPr>
        <p:spPr>
          <a:xfrm>
            <a:off x="10541000" y="3530600"/>
            <a:ext cx="3225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四足机器人</a:t>
            </a:r>
            <a:endParaRPr lang="en-US" sz="1600" noProof="1"/>
          </a:p>
        </p:txBody>
      </p:sp>
      <p:sp>
        <p:nvSpPr>
          <p:cNvPr id="15" name="gm-table-r1c1"/>
          <p:cNvSpPr txBox="1"/>
          <p:nvPr/>
        </p:nvSpPr>
        <p:spPr>
          <a:xfrm>
            <a:off x="13843000" y="3530600"/>
            <a:ext cx="2717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56.72%</a:t>
            </a:r>
            <a:endParaRPr lang="en-US" sz="1600" noProof="1"/>
          </a:p>
        </p:txBody>
      </p:sp>
      <p:sp>
        <p:nvSpPr>
          <p:cNvPr id="16" name="gm-table-hr2"/>
          <p:cNvSpPr/>
          <p:nvPr>
            <p:extLst>
              <p:ext uri="{F5677B7D-0D2A-4D9B-9A5C-6D8D7D0E5A5D}">
                <pptd:line encoding="base64url">eyJ2aWV3Qm94IjpbNDgwLDAuOF0sInBvaW50cyI6IjAsMC40IDQ4MCwwLjQiLCJjdXJ2ZSI6InNoYXJwIn0</pptd:line>
              </p:ext>
            </p:extLst>
          </p:nvPr>
        </p:nvSpPr>
        <p:spPr>
          <a:xfrm>
            <a:off x="10541000" y="4203700"/>
            <a:ext cx="6096000" cy="10160"/>
          </a:xfrm>
          <a:custGeom>
            <a:avLst/>
            <a:gdLst/>
            <a:ahLst/>
            <a:cxnLst/>
            <a:rect l="l" t="t" r="r" b="b"/>
            <a:pathLst>
              <a:path w="480" h="1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7" name="gm-table-r2c0"/>
          <p:cNvSpPr txBox="1"/>
          <p:nvPr/>
        </p:nvSpPr>
        <p:spPr>
          <a:xfrm>
            <a:off x="10541000" y="4267200"/>
            <a:ext cx="3225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机器人组件</a:t>
            </a:r>
            <a:endParaRPr lang="en-US" sz="1600" noProof="1"/>
          </a:p>
        </p:txBody>
      </p:sp>
      <p:sp>
        <p:nvSpPr>
          <p:cNvPr id="18" name="gm-table-r2c1"/>
          <p:cNvSpPr txBox="1"/>
          <p:nvPr/>
        </p:nvSpPr>
        <p:spPr>
          <a:xfrm>
            <a:off x="13843000" y="4267200"/>
            <a:ext cx="2717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59.36%</a:t>
            </a:r>
            <a:endParaRPr lang="en-US" sz="1600" noProof="1"/>
          </a:p>
        </p:txBody>
      </p:sp>
      <p:sp>
        <p:nvSpPr>
          <p:cNvPr id="19" name="gm-table-hr3"/>
          <p:cNvSpPr/>
          <p:nvPr>
            <p:extLst>
              <p:ext uri="{F5677B7D-0D2A-4D9B-9A5C-6D8D7D0E5A5D}">
                <pptd:line encoding="base64url">eyJ2aWV3Qm94IjpbNDgwLDAuOF0sInBvaW50cyI6IjAsMC40IDQ4MCwwLjQiLCJjdXJ2ZSI6InNoYXJwIn0</pptd:line>
              </p:ext>
            </p:extLst>
          </p:nvPr>
        </p:nvSpPr>
        <p:spPr>
          <a:xfrm>
            <a:off x="10541000" y="4940300"/>
            <a:ext cx="6096000" cy="10160"/>
          </a:xfrm>
          <a:custGeom>
            <a:avLst/>
            <a:gdLst/>
            <a:ahLst/>
            <a:cxnLst/>
            <a:rect l="l" t="t" r="r" b="b"/>
            <a:pathLst>
              <a:path w="480" h="1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0" name="gm-table-r3c0"/>
          <p:cNvSpPr txBox="1"/>
          <p:nvPr/>
        </p:nvSpPr>
        <p:spPr>
          <a:xfrm>
            <a:off x="10541000" y="5003800"/>
            <a:ext cx="3225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主营整体</a:t>
            </a:r>
            <a:endParaRPr lang="en-US" sz="1600" noProof="1"/>
          </a:p>
        </p:txBody>
      </p:sp>
      <p:sp>
        <p:nvSpPr>
          <p:cNvPr id="21" name="gm-table-r3c1"/>
          <p:cNvSpPr txBox="1"/>
          <p:nvPr/>
        </p:nvSpPr>
        <p:spPr>
          <a:xfrm>
            <a:off x="13843000" y="5003800"/>
            <a:ext cx="27178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60.13%</a:t>
            </a:r>
            <a:endParaRPr lang="en-US" sz="1600" noProof="1"/>
          </a:p>
        </p:txBody>
      </p:sp>
      <p:sp>
        <p:nvSpPr>
          <p:cNvPr id="22" name="gm-table-hr4"/>
          <p:cNvSpPr/>
          <p:nvPr>
            <p:extLst>
              <p:ext uri="{F5677B7D-0D2A-4D9B-9A5C-6D8D7D0E5A5D}">
                <pptd:line encoding="base64url">eyJ2aWV3Qm94IjpbNDgwLDAuOF0sInBvaW50cyI6IjAsMC40IDQ4MCwwLjQiLCJjdXJ2ZSI6InNoYXJwIn0</pptd:line>
              </p:ext>
            </p:extLst>
          </p:nvPr>
        </p:nvSpPr>
        <p:spPr>
          <a:xfrm>
            <a:off x="10541000" y="5676900"/>
            <a:ext cx="6096000" cy="10160"/>
          </a:xfrm>
          <a:custGeom>
            <a:avLst/>
            <a:gdLst/>
            <a:ahLst/>
            <a:cxnLst/>
            <a:rect l="l" t="t" r="r" b="b"/>
            <a:pathLst>
              <a:path w="480" h="1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3" name="gm-note-bg"/>
          <p:cNvSpPr/>
          <p:nvPr/>
        </p:nvSpPr>
        <p:spPr>
          <a:xfrm>
            <a:off x="800100" y="7366000"/>
            <a:ext cx="16687800" cy="1143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24" name="gm-note-title"/>
          <p:cNvSpPr txBox="1"/>
          <p:nvPr/>
        </p:nvSpPr>
        <p:spPr>
          <a:xfrm>
            <a:off x="1003300" y="7493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单位经济判断</a:t>
            </a:r>
            <a:endParaRPr lang="en-US" sz="1600" noProof="1"/>
          </a:p>
        </p:txBody>
      </p:sp>
      <p:sp>
        <p:nvSpPr>
          <p:cNvPr id="25" name="gm-note-body"/>
          <p:cNvSpPr txBox="1"/>
          <p:nvPr/>
        </p:nvSpPr>
        <p:spPr>
          <a:xfrm>
            <a:off x="1003300" y="7874000"/>
            <a:ext cx="16281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全栈自研、行业级产品占比与规模降本支撑高毛利；人形均价从26.04万元降至16.64万元，2026H1综合毛利率回落，60%附近不能机械外推。</a:t>
            </a:r>
            <a:endParaRPr lang="en-US" sz="1600" noProof="1"/>
          </a:p>
        </p:txBody>
      </p:sp>
      <p:sp>
        <p:nvSpPr>
          <p:cNvPr id="26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公司招股书注册稿PDF第201、206—207页。2. 2026H1毛利率来自华鑫报告PDF第2页。</a:t>
            </a:r>
            <a:endParaRPr lang="en-US" sz="1200" noProof="1"/>
          </a:p>
        </p:txBody>
      </p:sp>
      <p:sp>
        <p:nvSpPr>
          <p:cNvPr id="27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8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9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0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16</a:t>
            </a:r>
            <a:endParaRPr lang="en-US" sz="12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Three › Earnings Quality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2026H1扣非下降19.34%且现金流下降32.53%，费用投入快于收入转化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上半年收入超指引，费用和现金回款决定利润修复的含金量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h163-bg"/>
          <p:cNvSpPr/>
          <p:nvPr/>
        </p:nvSpPr>
        <p:spPr>
          <a:xfrm>
            <a:off x="800100" y="1968500"/>
            <a:ext cx="40767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h163-label"/>
          <p:cNvSpPr txBox="1"/>
          <p:nvPr/>
        </p:nvSpPr>
        <p:spPr>
          <a:xfrm>
            <a:off x="1003300" y="2146300"/>
            <a:ext cx="36703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收入</a:t>
            </a:r>
            <a:endParaRPr lang="en-US" sz="1400" noProof="1"/>
          </a:p>
        </p:txBody>
      </p:sp>
      <p:sp>
        <p:nvSpPr>
          <p:cNvPr id="8" name="h163-value"/>
          <p:cNvSpPr txBox="1"/>
          <p:nvPr/>
        </p:nvSpPr>
        <p:spPr>
          <a:xfrm>
            <a:off x="1003300" y="2501900"/>
            <a:ext cx="3670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11.52亿元</a:t>
            </a:r>
            <a:endParaRPr lang="en-US" sz="3600" noProof="1"/>
          </a:p>
        </p:txBody>
      </p:sp>
      <p:sp>
        <p:nvSpPr>
          <p:cNvPr id="9" name="h163-note"/>
          <p:cNvSpPr txBox="1"/>
          <p:nvPr/>
        </p:nvSpPr>
        <p:spPr>
          <a:xfrm>
            <a:off x="1003300" y="3238500"/>
            <a:ext cx="3670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同比+48.54%</a:t>
            </a:r>
            <a:endParaRPr lang="en-US" sz="1600" noProof="1"/>
          </a:p>
        </p:txBody>
      </p:sp>
      <p:sp>
        <p:nvSpPr>
          <p:cNvPr id="10" name="h1394-bg"/>
          <p:cNvSpPr/>
          <p:nvPr/>
        </p:nvSpPr>
        <p:spPr>
          <a:xfrm>
            <a:off x="5003800" y="1968500"/>
            <a:ext cx="40767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" name="h1394-label"/>
          <p:cNvSpPr txBox="1"/>
          <p:nvPr/>
        </p:nvSpPr>
        <p:spPr>
          <a:xfrm>
            <a:off x="5207000" y="2146300"/>
            <a:ext cx="36703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扣非净利润</a:t>
            </a:r>
            <a:endParaRPr lang="en-US" sz="1400" noProof="1"/>
          </a:p>
        </p:txBody>
      </p:sp>
      <p:sp>
        <p:nvSpPr>
          <p:cNvPr id="12" name="h1394-value"/>
          <p:cNvSpPr txBox="1"/>
          <p:nvPr/>
        </p:nvSpPr>
        <p:spPr>
          <a:xfrm>
            <a:off x="5207000" y="2501900"/>
            <a:ext cx="3670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2.44亿元</a:t>
            </a:r>
            <a:endParaRPr lang="en-US" sz="3600" noProof="1"/>
          </a:p>
        </p:txBody>
      </p:sp>
      <p:sp>
        <p:nvSpPr>
          <p:cNvPr id="13" name="h1394-note"/>
          <p:cNvSpPr txBox="1"/>
          <p:nvPr/>
        </p:nvSpPr>
        <p:spPr>
          <a:xfrm>
            <a:off x="5207000" y="3238500"/>
            <a:ext cx="3670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同比−19.34%</a:t>
            </a:r>
            <a:endParaRPr lang="en-US" sz="1600" noProof="1"/>
          </a:p>
        </p:txBody>
      </p:sp>
      <p:sp>
        <p:nvSpPr>
          <p:cNvPr id="14" name="h1725-bg"/>
          <p:cNvSpPr/>
          <p:nvPr/>
        </p:nvSpPr>
        <p:spPr>
          <a:xfrm>
            <a:off x="9207500" y="1968500"/>
            <a:ext cx="40767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" name="h1725-label"/>
          <p:cNvSpPr txBox="1"/>
          <p:nvPr/>
        </p:nvSpPr>
        <p:spPr>
          <a:xfrm>
            <a:off x="9410700" y="2146300"/>
            <a:ext cx="36703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经营现金流</a:t>
            </a:r>
            <a:endParaRPr lang="en-US" sz="1400" noProof="1"/>
          </a:p>
        </p:txBody>
      </p:sp>
      <p:sp>
        <p:nvSpPr>
          <p:cNvPr id="16" name="h1725-value"/>
          <p:cNvSpPr txBox="1"/>
          <p:nvPr/>
        </p:nvSpPr>
        <p:spPr>
          <a:xfrm>
            <a:off x="9410700" y="2501900"/>
            <a:ext cx="3670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2.32亿元</a:t>
            </a:r>
            <a:endParaRPr lang="en-US" sz="3600" noProof="1"/>
          </a:p>
        </p:txBody>
      </p:sp>
      <p:sp>
        <p:nvSpPr>
          <p:cNvPr id="17" name="h1725-note"/>
          <p:cNvSpPr txBox="1"/>
          <p:nvPr/>
        </p:nvSpPr>
        <p:spPr>
          <a:xfrm>
            <a:off x="9410700" y="3238500"/>
            <a:ext cx="3670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同比−32.53%</a:t>
            </a:r>
            <a:endParaRPr lang="en-US" sz="1600" noProof="1"/>
          </a:p>
        </p:txBody>
      </p:sp>
      <p:sp>
        <p:nvSpPr>
          <p:cNvPr id="18" name="h11056-bg"/>
          <p:cNvSpPr/>
          <p:nvPr/>
        </p:nvSpPr>
        <p:spPr>
          <a:xfrm>
            <a:off x="13411200" y="1968500"/>
            <a:ext cx="40767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" name="h11056-label"/>
          <p:cNvSpPr txBox="1"/>
          <p:nvPr/>
        </p:nvSpPr>
        <p:spPr>
          <a:xfrm>
            <a:off x="13614400" y="2146300"/>
            <a:ext cx="36703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Q1扣非同比</a:t>
            </a:r>
            <a:endParaRPr lang="en-US" sz="1400" noProof="1"/>
          </a:p>
        </p:txBody>
      </p:sp>
      <p:sp>
        <p:nvSpPr>
          <p:cNvPr id="20" name="h11056-value"/>
          <p:cNvSpPr txBox="1"/>
          <p:nvPr/>
        </p:nvSpPr>
        <p:spPr>
          <a:xfrm>
            <a:off x="13614400" y="2501900"/>
            <a:ext cx="36703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−52.55%</a:t>
            </a:r>
            <a:endParaRPr lang="en-US" sz="3600" noProof="1"/>
          </a:p>
        </p:txBody>
      </p:sp>
      <p:sp>
        <p:nvSpPr>
          <p:cNvPr id="21" name="h11056-note"/>
          <p:cNvSpPr txBox="1"/>
          <p:nvPr/>
        </p:nvSpPr>
        <p:spPr>
          <a:xfrm>
            <a:off x="13614400" y="3238500"/>
            <a:ext cx="3670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H1降幅有所收窄</a:t>
            </a:r>
            <a:endParaRPr lang="en-US" sz="1600" noProof="1"/>
          </a:p>
        </p:txBody>
      </p:sp>
      <p:sp>
        <p:nvSpPr>
          <p:cNvPr id="22" name="h1-table-h0"/>
          <p:cNvSpPr txBox="1"/>
          <p:nvPr/>
        </p:nvSpPr>
        <p:spPr>
          <a:xfrm>
            <a:off x="825500" y="4699000"/>
            <a:ext cx="411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费用与质量指标</a:t>
            </a:r>
            <a:endParaRPr lang="en-US" sz="1400" noProof="1"/>
          </a:p>
        </p:txBody>
      </p:sp>
      <p:sp>
        <p:nvSpPr>
          <p:cNvPr id="23" name="h1-table-h1"/>
          <p:cNvSpPr txBox="1"/>
          <p:nvPr/>
        </p:nvSpPr>
        <p:spPr>
          <a:xfrm>
            <a:off x="5016500" y="4699000"/>
            <a:ext cx="309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2026H1</a:t>
            </a:r>
            <a:endParaRPr lang="en-US" sz="1400" noProof="1"/>
          </a:p>
        </p:txBody>
      </p:sp>
      <p:sp>
        <p:nvSpPr>
          <p:cNvPr id="24" name="h1-table-h2"/>
          <p:cNvSpPr txBox="1"/>
          <p:nvPr/>
        </p:nvSpPr>
        <p:spPr>
          <a:xfrm>
            <a:off x="8191500" y="4699000"/>
            <a:ext cx="309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投资解读</a:t>
            </a:r>
            <a:endParaRPr lang="en-US" sz="1400" noProof="1"/>
          </a:p>
        </p:txBody>
      </p:sp>
      <p:sp>
        <p:nvSpPr>
          <p:cNvPr id="25" name="h1-table-hr0"/>
          <p:cNvSpPr/>
          <p:nvPr>
            <p:extLst>
              <p:ext uri="{F5677B7D-0D2A-4D9B-9A5C-6D8D7D0E5A5D}">
                <pptd:line encoding="base64url">eyJ2aWV3Qm94IjpbODMwLDAuOF0sInBvaW50cyI6IjAsMC40IDgzMCwwLjQiLCJjdXJ2ZSI6InNoYXJwIn0</pptd:line>
              </p:ext>
            </p:extLst>
          </p:nvPr>
        </p:nvSpPr>
        <p:spPr>
          <a:xfrm>
            <a:off x="825500" y="5016500"/>
            <a:ext cx="10541000" cy="10160"/>
          </a:xfrm>
          <a:custGeom>
            <a:avLst/>
            <a:gdLst/>
            <a:ahLst/>
            <a:cxnLst/>
            <a:rect l="l" t="t" r="r" b="b"/>
            <a:pathLst>
              <a:path w="830" h="1">
                <a:moveTo>
                  <a:pt x="0" y="0"/>
                </a:moveTo>
                <a:lnTo>
                  <a:pt x="830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26" name="h1-table-r0c0"/>
          <p:cNvSpPr txBox="1"/>
          <p:nvPr/>
        </p:nvSpPr>
        <p:spPr>
          <a:xfrm>
            <a:off x="825500" y="5080000"/>
            <a:ext cx="4114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研发费用率</a:t>
            </a:r>
            <a:endParaRPr lang="en-US" sz="1600" noProof="1"/>
          </a:p>
        </p:txBody>
      </p:sp>
      <p:sp>
        <p:nvSpPr>
          <p:cNvPr id="27" name="h1-table-r0c1"/>
          <p:cNvSpPr txBox="1"/>
          <p:nvPr/>
        </p:nvSpPr>
        <p:spPr>
          <a:xfrm>
            <a:off x="5016500" y="50800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11.8%</a:t>
            </a:r>
            <a:endParaRPr lang="en-US" sz="1600" noProof="1"/>
          </a:p>
        </p:txBody>
      </p:sp>
      <p:sp>
        <p:nvSpPr>
          <p:cNvPr id="28" name="h1-table-r0c2"/>
          <p:cNvSpPr txBox="1"/>
          <p:nvPr/>
        </p:nvSpPr>
        <p:spPr>
          <a:xfrm>
            <a:off x="8191500" y="50800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模型与本体投入增加</a:t>
            </a:r>
            <a:endParaRPr lang="en-US" sz="1600" noProof="1"/>
          </a:p>
        </p:txBody>
      </p:sp>
      <p:sp>
        <p:nvSpPr>
          <p:cNvPr id="29" name="h1-table-hr1"/>
          <p:cNvSpPr/>
          <p:nvPr>
            <p:extLst>
              <p:ext uri="{F5677B7D-0D2A-4D9B-9A5C-6D8D7D0E5A5D}">
                <pptd:line encoding="base64url">eyJ2aWV3Qm94IjpbODMwLDAuOF0sInBvaW50cyI6IjAsMC40IDgzMCwwLjQiLCJjdXJ2ZSI6InNoYXJwIn0</pptd:line>
              </p:ext>
            </p:extLst>
          </p:nvPr>
        </p:nvSpPr>
        <p:spPr>
          <a:xfrm>
            <a:off x="825500" y="5803900"/>
            <a:ext cx="10541000" cy="10160"/>
          </a:xfrm>
          <a:custGeom>
            <a:avLst/>
            <a:gdLst/>
            <a:ahLst/>
            <a:cxnLst/>
            <a:rect l="l" t="t" r="r" b="b"/>
            <a:pathLst>
              <a:path w="830" h="1">
                <a:moveTo>
                  <a:pt x="0" y="0"/>
                </a:moveTo>
                <a:lnTo>
                  <a:pt x="83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0" name="h1-table-r1c0"/>
          <p:cNvSpPr txBox="1"/>
          <p:nvPr/>
        </p:nvSpPr>
        <p:spPr>
          <a:xfrm>
            <a:off x="825500" y="5867400"/>
            <a:ext cx="4114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销售费用率</a:t>
            </a:r>
            <a:endParaRPr lang="en-US" sz="1600" noProof="1"/>
          </a:p>
        </p:txBody>
      </p:sp>
      <p:sp>
        <p:nvSpPr>
          <p:cNvPr id="31" name="h1-table-r1c1"/>
          <p:cNvSpPr txBox="1"/>
          <p:nvPr/>
        </p:nvSpPr>
        <p:spPr>
          <a:xfrm>
            <a:off x="5016500" y="58674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14.2%</a:t>
            </a:r>
            <a:endParaRPr lang="en-US" sz="1600" noProof="1"/>
          </a:p>
        </p:txBody>
      </p:sp>
      <p:sp>
        <p:nvSpPr>
          <p:cNvPr id="32" name="h1-table-r1c2"/>
          <p:cNvSpPr txBox="1"/>
          <p:nvPr/>
        </p:nvSpPr>
        <p:spPr>
          <a:xfrm>
            <a:off x="8191500" y="58674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春晚品牌与销售人员增加</a:t>
            </a:r>
            <a:endParaRPr lang="en-US" sz="1600" noProof="1"/>
          </a:p>
        </p:txBody>
      </p:sp>
      <p:sp>
        <p:nvSpPr>
          <p:cNvPr id="33" name="h1-table-hr2"/>
          <p:cNvSpPr/>
          <p:nvPr>
            <p:extLst>
              <p:ext uri="{F5677B7D-0D2A-4D9B-9A5C-6D8D7D0E5A5D}">
                <pptd:line encoding="base64url">eyJ2aWV3Qm94IjpbODMwLDAuOF0sInBvaW50cyI6IjAsMC40IDgzMCwwLjQiLCJjdXJ2ZSI6InNoYXJwIn0</pptd:line>
              </p:ext>
            </p:extLst>
          </p:nvPr>
        </p:nvSpPr>
        <p:spPr>
          <a:xfrm>
            <a:off x="825500" y="6591300"/>
            <a:ext cx="10541000" cy="10160"/>
          </a:xfrm>
          <a:custGeom>
            <a:avLst/>
            <a:gdLst/>
            <a:ahLst/>
            <a:cxnLst/>
            <a:rect l="l" t="t" r="r" b="b"/>
            <a:pathLst>
              <a:path w="830" h="1">
                <a:moveTo>
                  <a:pt x="0" y="0"/>
                </a:moveTo>
                <a:lnTo>
                  <a:pt x="83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4" name="h1-table-r2c0"/>
          <p:cNvSpPr txBox="1"/>
          <p:nvPr/>
        </p:nvSpPr>
        <p:spPr>
          <a:xfrm>
            <a:off x="825500" y="6654800"/>
            <a:ext cx="4114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综合毛利率</a:t>
            </a:r>
            <a:endParaRPr lang="en-US" sz="1600" noProof="1"/>
          </a:p>
        </p:txBody>
      </p:sp>
      <p:sp>
        <p:nvSpPr>
          <p:cNvPr id="35" name="h1-table-r2c1"/>
          <p:cNvSpPr txBox="1"/>
          <p:nvPr/>
        </p:nvSpPr>
        <p:spPr>
          <a:xfrm>
            <a:off x="5016500" y="66548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56.0%</a:t>
            </a:r>
            <a:endParaRPr lang="en-US" sz="1600" noProof="1"/>
          </a:p>
        </p:txBody>
      </p:sp>
      <p:sp>
        <p:nvSpPr>
          <p:cNvPr id="36" name="h1-table-r2c2"/>
          <p:cNvSpPr txBox="1"/>
          <p:nvPr/>
        </p:nvSpPr>
        <p:spPr>
          <a:xfrm>
            <a:off x="8191500" y="66548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较2025全年回落4.44pp</a:t>
            </a:r>
            <a:endParaRPr lang="en-US" sz="1600" noProof="1"/>
          </a:p>
        </p:txBody>
      </p:sp>
      <p:sp>
        <p:nvSpPr>
          <p:cNvPr id="37" name="h1-table-hr3"/>
          <p:cNvSpPr/>
          <p:nvPr>
            <p:extLst>
              <p:ext uri="{F5677B7D-0D2A-4D9B-9A5C-6D8D7D0E5A5D}">
                <pptd:line encoding="base64url">eyJ2aWV3Qm94IjpbODMwLDAuOF0sInBvaW50cyI6IjAsMC40IDgzMCwwLjQiLCJjdXJ2ZSI6InNoYXJwIn0</pptd:line>
              </p:ext>
            </p:extLst>
          </p:nvPr>
        </p:nvSpPr>
        <p:spPr>
          <a:xfrm>
            <a:off x="825500" y="7378700"/>
            <a:ext cx="10541000" cy="10160"/>
          </a:xfrm>
          <a:custGeom>
            <a:avLst/>
            <a:gdLst/>
            <a:ahLst/>
            <a:cxnLst/>
            <a:rect l="l" t="t" r="r" b="b"/>
            <a:pathLst>
              <a:path w="830" h="1">
                <a:moveTo>
                  <a:pt x="0" y="0"/>
                </a:moveTo>
                <a:lnTo>
                  <a:pt x="83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8" name="h1-table-r3c0"/>
          <p:cNvSpPr txBox="1"/>
          <p:nvPr/>
        </p:nvSpPr>
        <p:spPr>
          <a:xfrm>
            <a:off x="825500" y="7442200"/>
            <a:ext cx="4114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H1收入vs指引上限</a:t>
            </a:r>
            <a:endParaRPr lang="en-US" sz="1600" noProof="1"/>
          </a:p>
        </p:txBody>
      </p:sp>
      <p:sp>
        <p:nvSpPr>
          <p:cNvPr id="39" name="h1-table-r3c1"/>
          <p:cNvSpPr txBox="1"/>
          <p:nvPr/>
        </p:nvSpPr>
        <p:spPr>
          <a:xfrm>
            <a:off x="5016500" y="74422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+2.15%</a:t>
            </a:r>
            <a:endParaRPr lang="en-US" sz="1600" noProof="1"/>
          </a:p>
        </p:txBody>
      </p:sp>
      <p:sp>
        <p:nvSpPr>
          <p:cNvPr id="40" name="h1-table-r3c2"/>
          <p:cNvSpPr txBox="1"/>
          <p:nvPr/>
        </p:nvSpPr>
        <p:spPr>
          <a:xfrm>
            <a:off x="8191500" y="7442200"/>
            <a:ext cx="30988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收入超上限，扣非在区间内</a:t>
            </a:r>
            <a:endParaRPr lang="en-US" sz="1600" noProof="1"/>
          </a:p>
        </p:txBody>
      </p:sp>
      <p:sp>
        <p:nvSpPr>
          <p:cNvPr id="41" name="h1-table-hr4"/>
          <p:cNvSpPr/>
          <p:nvPr>
            <p:extLst>
              <p:ext uri="{F5677B7D-0D2A-4D9B-9A5C-6D8D7D0E5A5D}">
                <pptd:line encoding="base64url">eyJ2aWV3Qm94IjpbODMwLDAuOF0sInBvaW50cyI6IjAsMC40IDgzMCwwLjQiLCJjdXJ2ZSI6InNoYXJwIn0</pptd:line>
              </p:ext>
            </p:extLst>
          </p:nvPr>
        </p:nvSpPr>
        <p:spPr>
          <a:xfrm>
            <a:off x="825500" y="8166100"/>
            <a:ext cx="10541000" cy="10160"/>
          </a:xfrm>
          <a:custGeom>
            <a:avLst/>
            <a:gdLst/>
            <a:ahLst/>
            <a:cxnLst/>
            <a:rect l="l" t="t" r="r" b="b"/>
            <a:pathLst>
              <a:path w="830" h="1">
                <a:moveTo>
                  <a:pt x="0" y="0"/>
                </a:moveTo>
                <a:lnTo>
                  <a:pt x="83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42" name="h1-side-bg"/>
          <p:cNvSpPr/>
          <p:nvPr/>
        </p:nvSpPr>
        <p:spPr>
          <a:xfrm>
            <a:off x="11938000" y="4699000"/>
            <a:ext cx="5549900" cy="314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" name="h1-side-title"/>
          <p:cNvSpPr txBox="1"/>
          <p:nvPr/>
        </p:nvSpPr>
        <p:spPr>
          <a:xfrm>
            <a:off x="12141200" y="4826000"/>
            <a:ext cx="51435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费用增量与现金</a:t>
            </a:r>
            <a:endParaRPr lang="en-US" sz="1600" noProof="1"/>
          </a:p>
        </p:txBody>
      </p:sp>
      <p:sp>
        <p:nvSpPr>
          <p:cNvPr id="44" name="h1-side-body"/>
          <p:cNvSpPr txBox="1"/>
          <p:nvPr/>
        </p:nvSpPr>
        <p:spPr>
          <a:xfrm>
            <a:off x="12141200" y="5207000"/>
            <a:ext cx="51435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研发费用同比增加8203.74万元。经营现金流2.32亿元，低于净利润且同比下降。后续重点看投入是否转化为新订单、交付与回款，而非仅看费用率回落。</a:t>
            </a:r>
            <a:endParaRPr lang="en-US" sz="1600" noProof="1"/>
          </a:p>
        </p:txBody>
      </p:sp>
      <p:sp>
        <p:nvSpPr>
          <p:cNvPr id="45" name="h1-note-bg"/>
          <p:cNvSpPr/>
          <p:nvPr/>
        </p:nvSpPr>
        <p:spPr>
          <a:xfrm>
            <a:off x="825500" y="8255000"/>
            <a:ext cx="16687800" cy="571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46" name="h1-note-title"/>
          <p:cNvSpPr txBox="1"/>
          <p:nvPr/>
        </p:nvSpPr>
        <p:spPr>
          <a:xfrm>
            <a:off x="1028700" y="8382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质量结论</a:t>
            </a:r>
            <a:endParaRPr lang="en-US" sz="1600" noProof="1"/>
          </a:p>
        </p:txBody>
      </p:sp>
      <p:sp>
        <p:nvSpPr>
          <p:cNvPr id="47" name="h1-note-body"/>
          <p:cNvSpPr txBox="1"/>
          <p:nvPr/>
        </p:nvSpPr>
        <p:spPr>
          <a:xfrm>
            <a:off x="1028700" y="8763000"/>
            <a:ext cx="16281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利润下滑主要来自投入加大而非收入萎缩；但现金流同步走弱，需观察投入能否形成后续回款。</a:t>
            </a:r>
            <a:endParaRPr lang="en-US" sz="1600" noProof="1"/>
          </a:p>
        </p:txBody>
      </p:sp>
      <p:sp>
        <p:nvSpPr>
          <p:cNvPr id="48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公司上市公告书PDF第35—37页，2026H1未经审计。2. 华鑫报告PDF第2页。3. 收入超指引幅度为团队计算。</a:t>
            </a:r>
            <a:endParaRPr lang="en-US" sz="1200" noProof="1"/>
          </a:p>
        </p:txBody>
      </p:sp>
      <p:sp>
        <p:nvSpPr>
          <p:cNvPr id="49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50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51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52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17</a:t>
            </a:r>
            <a:endParaRPr lang="en-US" sz="12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Three › Forecast Divergence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三家2028收入预测相差18.9%，四足假设是最大分歧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预测差异需要落到分产品交付，而非只比较总收入增速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fc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三家机构预测：收入与利润路径存在实质分歧</a:t>
            </a:r>
            <a:endParaRPr lang="en-US" sz="1800" noProof="1"/>
          </a:p>
        </p:txBody>
      </p:sp>
      <p:sp>
        <p:nvSpPr>
          <p:cNvPr id="7" name="fc-table-h0"/>
          <p:cNvSpPr txBox="1"/>
          <p:nvPr/>
        </p:nvSpPr>
        <p:spPr>
          <a:xfrm>
            <a:off x="825500" y="2413000"/>
            <a:ext cx="233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机构</a:t>
            </a:r>
            <a:endParaRPr lang="en-US" sz="1400" noProof="1"/>
          </a:p>
        </p:txBody>
      </p:sp>
      <p:sp>
        <p:nvSpPr>
          <p:cNvPr id="8" name="fc-table-h1"/>
          <p:cNvSpPr txBox="1"/>
          <p:nvPr/>
        </p:nvSpPr>
        <p:spPr>
          <a:xfrm>
            <a:off x="3238500" y="2413000"/>
            <a:ext cx="716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收入2026E/27E/28E（亿元）</a:t>
            </a:r>
            <a:endParaRPr lang="en-US" sz="1400" noProof="1"/>
          </a:p>
        </p:txBody>
      </p:sp>
      <p:sp>
        <p:nvSpPr>
          <p:cNvPr id="9" name="fc-table-h2"/>
          <p:cNvSpPr txBox="1"/>
          <p:nvPr/>
        </p:nvSpPr>
        <p:spPr>
          <a:xfrm>
            <a:off x="10477500" y="2413000"/>
            <a:ext cx="627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归母净利润同口径（亿元）</a:t>
            </a:r>
            <a:endParaRPr lang="en-US" sz="1400" noProof="1"/>
          </a:p>
        </p:txBody>
      </p:sp>
      <p:sp>
        <p:nvSpPr>
          <p:cNvPr id="10" name="fc-table-hr0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27305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11" name="fc-table-r0c0"/>
          <p:cNvSpPr txBox="1"/>
          <p:nvPr/>
        </p:nvSpPr>
        <p:spPr>
          <a:xfrm>
            <a:off x="825500" y="2794000"/>
            <a:ext cx="2336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太平洋</a:t>
            </a:r>
            <a:endParaRPr lang="en-US" sz="1600" noProof="1"/>
          </a:p>
        </p:txBody>
      </p:sp>
      <p:sp>
        <p:nvSpPr>
          <p:cNvPr id="12" name="fc-table-r0c1"/>
          <p:cNvSpPr txBox="1"/>
          <p:nvPr/>
        </p:nvSpPr>
        <p:spPr>
          <a:xfrm>
            <a:off x="3238500" y="2794000"/>
            <a:ext cx="7162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27.91 / 43.13 / 64.82</a:t>
            </a:r>
            <a:endParaRPr lang="en-US" sz="1600" noProof="1"/>
          </a:p>
        </p:txBody>
      </p:sp>
      <p:sp>
        <p:nvSpPr>
          <p:cNvPr id="13" name="fc-table-r0c2"/>
          <p:cNvSpPr txBox="1"/>
          <p:nvPr/>
        </p:nvSpPr>
        <p:spPr>
          <a:xfrm>
            <a:off x="10477500" y="2794000"/>
            <a:ext cx="6273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6.39 / 10.02 / 15.10</a:t>
            </a:r>
            <a:endParaRPr lang="en-US" sz="1600" noProof="1"/>
          </a:p>
        </p:txBody>
      </p:sp>
      <p:sp>
        <p:nvSpPr>
          <p:cNvPr id="14" name="fc-table-hr1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35941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5" name="fc-table-r1c0"/>
          <p:cNvSpPr txBox="1"/>
          <p:nvPr/>
        </p:nvSpPr>
        <p:spPr>
          <a:xfrm>
            <a:off x="825500" y="3657600"/>
            <a:ext cx="2336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华鑫</a:t>
            </a:r>
            <a:endParaRPr lang="en-US" sz="1600" noProof="1"/>
          </a:p>
        </p:txBody>
      </p:sp>
      <p:sp>
        <p:nvSpPr>
          <p:cNvPr id="16" name="fc-table-r1c1"/>
          <p:cNvSpPr txBox="1"/>
          <p:nvPr/>
        </p:nvSpPr>
        <p:spPr>
          <a:xfrm>
            <a:off x="3238500" y="3657600"/>
            <a:ext cx="7162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27.56 / 45.43 / 68.74</a:t>
            </a:r>
            <a:endParaRPr lang="en-US" sz="1600" noProof="1"/>
          </a:p>
        </p:txBody>
      </p:sp>
      <p:sp>
        <p:nvSpPr>
          <p:cNvPr id="17" name="fc-table-r1c2"/>
          <p:cNvSpPr txBox="1"/>
          <p:nvPr/>
        </p:nvSpPr>
        <p:spPr>
          <a:xfrm>
            <a:off x="10477500" y="3657600"/>
            <a:ext cx="6273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6.32 / 9.43 / 12.68</a:t>
            </a:r>
            <a:endParaRPr lang="en-US" sz="1600" noProof="1"/>
          </a:p>
        </p:txBody>
      </p:sp>
      <p:sp>
        <p:nvSpPr>
          <p:cNvPr id="18" name="fc-table-hr2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44577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9" name="fc-table-r2c0"/>
          <p:cNvSpPr txBox="1"/>
          <p:nvPr/>
        </p:nvSpPr>
        <p:spPr>
          <a:xfrm>
            <a:off x="825500" y="4521200"/>
            <a:ext cx="2336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东吴</a:t>
            </a:r>
            <a:endParaRPr lang="en-US" sz="1600" noProof="1"/>
          </a:p>
        </p:txBody>
      </p:sp>
      <p:sp>
        <p:nvSpPr>
          <p:cNvPr id="20" name="fc-table-r2c1"/>
          <p:cNvSpPr txBox="1"/>
          <p:nvPr/>
        </p:nvSpPr>
        <p:spPr>
          <a:xfrm>
            <a:off x="3238500" y="4521200"/>
            <a:ext cx="7162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30.97 / 49.60 / 76.83</a:t>
            </a:r>
            <a:endParaRPr lang="en-US" sz="1600" noProof="1"/>
          </a:p>
        </p:txBody>
      </p:sp>
      <p:sp>
        <p:nvSpPr>
          <p:cNvPr id="21" name="fc-table-r2c2"/>
          <p:cNvSpPr txBox="1"/>
          <p:nvPr/>
        </p:nvSpPr>
        <p:spPr>
          <a:xfrm>
            <a:off x="10477500" y="4521200"/>
            <a:ext cx="6273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6.62 / 12.56 / 22.37</a:t>
            </a:r>
            <a:endParaRPr lang="en-US" sz="1600" noProof="1"/>
          </a:p>
        </p:txBody>
      </p:sp>
      <p:sp>
        <p:nvSpPr>
          <p:cNvPr id="22" name="fc-table-hr3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53213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3" name="fc-table-r3c0"/>
          <p:cNvSpPr txBox="1"/>
          <p:nvPr/>
        </p:nvSpPr>
        <p:spPr>
          <a:xfrm>
            <a:off x="825500" y="5384800"/>
            <a:ext cx="2336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简单均值</a:t>
            </a:r>
            <a:endParaRPr lang="en-US" sz="1600" noProof="1"/>
          </a:p>
        </p:txBody>
      </p:sp>
      <p:sp>
        <p:nvSpPr>
          <p:cNvPr id="24" name="fc-table-r3c1"/>
          <p:cNvSpPr txBox="1"/>
          <p:nvPr/>
        </p:nvSpPr>
        <p:spPr>
          <a:xfrm>
            <a:off x="3238500" y="5384800"/>
            <a:ext cx="7162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28.81 / 46.05 / 70.13</a:t>
            </a:r>
            <a:endParaRPr lang="en-US" sz="1600" noProof="1"/>
          </a:p>
        </p:txBody>
      </p:sp>
      <p:sp>
        <p:nvSpPr>
          <p:cNvPr id="25" name="fc-table-r3c2"/>
          <p:cNvSpPr txBox="1"/>
          <p:nvPr/>
        </p:nvSpPr>
        <p:spPr>
          <a:xfrm>
            <a:off x="10477500" y="5384800"/>
            <a:ext cx="6273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6.44 / 10.67 / 16.72</a:t>
            </a:r>
            <a:endParaRPr lang="en-US" sz="1600" noProof="1"/>
          </a:p>
        </p:txBody>
      </p:sp>
      <p:sp>
        <p:nvSpPr>
          <p:cNvPr id="26" name="fc-table-hr4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61849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7" name="fc-divergence-bg"/>
          <p:cNvSpPr/>
          <p:nvPr/>
        </p:nvSpPr>
        <p:spPr>
          <a:xfrm>
            <a:off x="825500" y="6477000"/>
            <a:ext cx="8001000" cy="190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" name="fc-divergence-title"/>
          <p:cNvSpPr txBox="1"/>
          <p:nvPr/>
        </p:nvSpPr>
        <p:spPr>
          <a:xfrm>
            <a:off x="1028700" y="6604000"/>
            <a:ext cx="7594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最大分歧：四足</a:t>
            </a:r>
            <a:endParaRPr lang="en-US" sz="1600" noProof="1"/>
          </a:p>
        </p:txBody>
      </p:sp>
      <p:sp>
        <p:nvSpPr>
          <p:cNvPr id="29" name="fc-divergence-body"/>
          <p:cNvSpPr txBox="1"/>
          <p:nvPr/>
        </p:nvSpPr>
        <p:spPr>
          <a:xfrm>
            <a:off x="1028700" y="6985000"/>
            <a:ext cx="75946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东吴预计2026年四足收入17.90亿元（+157%），太平洋预计11.17亿元（+60%）；人形预测反而相对接近。</a:t>
            </a:r>
            <a:endParaRPr lang="en-US" sz="1600" noProof="1"/>
          </a:p>
        </p:txBody>
      </p:sp>
      <p:sp>
        <p:nvSpPr>
          <p:cNvPr id="30" name="fc-mean-bg"/>
          <p:cNvSpPr/>
          <p:nvPr/>
        </p:nvSpPr>
        <p:spPr>
          <a:xfrm>
            <a:off x="9207500" y="6477000"/>
            <a:ext cx="8280400" cy="190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31" name="fc-mean-title"/>
          <p:cNvSpPr txBox="1"/>
          <p:nvPr/>
        </p:nvSpPr>
        <p:spPr>
          <a:xfrm>
            <a:off x="9410700" y="66040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使用方式</a:t>
            </a:r>
            <a:endParaRPr lang="en-US" sz="1600" noProof="1"/>
          </a:p>
        </p:txBody>
      </p:sp>
      <p:sp>
        <p:nvSpPr>
          <p:cNvPr id="32" name="fc-mean-body"/>
          <p:cNvSpPr txBox="1"/>
          <p:nvPr/>
        </p:nvSpPr>
        <p:spPr>
          <a:xfrm>
            <a:off x="9410700" y="6985000"/>
            <a:ext cx="78740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三家简单均值只用于估值敏感性，非官方一致预期；2028收入预测最高/最低差18.9%。</a:t>
            </a:r>
            <a:endParaRPr lang="en-US" sz="1600" noProof="1"/>
          </a:p>
        </p:txBody>
      </p:sp>
      <p:sp>
        <p:nvSpPr>
          <p:cNvPr id="33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2026E—2028E均为机构预测（estimate），非公司指引：太平洋报告PDF第3、26—27页；华鑫报告PDF第5—6页；东吴报告PDF第1、29—31页。2. 均值与极差为团队计算，非官方一致预期。</a:t>
            </a:r>
            <a:endParaRPr lang="en-US" sz="1200" noProof="1"/>
          </a:p>
        </p:txBody>
      </p:sp>
      <p:sp>
        <p:nvSpPr>
          <p:cNvPr id="34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5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36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7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18</a:t>
            </a:r>
            <a:endParaRPr lang="en-US" sz="12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Three › Delivery Test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全年预测均值隐含H2收入增长87.2%，显著高于H1的48.54%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全年预测需要下半年再加速，Q3成为最近的验证点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h2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全年收入预测隐含的2026H2同比增速</a:t>
            </a:r>
            <a:endParaRPr lang="en-US" sz="1800" noProof="1"/>
          </a:p>
        </p:txBody>
      </p:sp>
      <p:graphicFrame>
        <p:nvGraphicFramePr>
          <p:cNvPr id="7" name="h2-chart"/>
          <p:cNvGraphicFramePr/>
          <p:nvPr/>
        </p:nvGraphicFramePr>
        <p:xfrm>
          <a:off x="800100" y="2413000"/>
          <a:ext cx="9652000" cy="4826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h2-rev-bg"/>
          <p:cNvSpPr/>
          <p:nvPr/>
        </p:nvSpPr>
        <p:spPr>
          <a:xfrm>
            <a:off x="11176000" y="2413000"/>
            <a:ext cx="63119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h2-rev-label"/>
          <p:cNvSpPr txBox="1"/>
          <p:nvPr/>
        </p:nvSpPr>
        <p:spPr>
          <a:xfrm>
            <a:off x="11379200" y="2590800"/>
            <a:ext cx="5905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均值隐含H2收入</a:t>
            </a:r>
            <a:endParaRPr lang="en-US" sz="1400" noProof="1"/>
          </a:p>
        </p:txBody>
      </p:sp>
      <p:sp>
        <p:nvSpPr>
          <p:cNvPr id="10" name="h2-rev-value"/>
          <p:cNvSpPr txBox="1"/>
          <p:nvPr/>
        </p:nvSpPr>
        <p:spPr>
          <a:xfrm>
            <a:off x="11379200" y="2946400"/>
            <a:ext cx="5905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17.29亿元</a:t>
            </a:r>
            <a:endParaRPr lang="en-US" sz="3600" noProof="1"/>
          </a:p>
        </p:txBody>
      </p:sp>
      <p:sp>
        <p:nvSpPr>
          <p:cNvPr id="11" name="h2-rev-note"/>
          <p:cNvSpPr txBox="1"/>
          <p:nvPr/>
        </p:nvSpPr>
        <p:spPr>
          <a:xfrm>
            <a:off x="11379200" y="3683000"/>
            <a:ext cx="5905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2025H2为9.24亿元；要求显著再加速。</a:t>
            </a:r>
            <a:endParaRPr lang="en-US" sz="1600" noProof="1"/>
          </a:p>
        </p:txBody>
      </p:sp>
      <p:sp>
        <p:nvSpPr>
          <p:cNvPr id="12" name="guide-bg"/>
          <p:cNvSpPr/>
          <p:nvPr/>
        </p:nvSpPr>
        <p:spPr>
          <a:xfrm>
            <a:off x="11176000" y="4953000"/>
            <a:ext cx="631190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3" name="guide-title"/>
          <p:cNvSpPr txBox="1"/>
          <p:nvPr/>
        </p:nvSpPr>
        <p:spPr>
          <a:xfrm>
            <a:off x="11379200" y="5080000"/>
            <a:ext cx="59055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此前指引兑现</a:t>
            </a:r>
            <a:endParaRPr lang="en-US" sz="1600" noProof="1"/>
          </a:p>
        </p:txBody>
      </p:sp>
      <p:sp>
        <p:nvSpPr>
          <p:cNvPr id="14" name="guide-body"/>
          <p:cNvSpPr txBox="1"/>
          <p:nvPr/>
        </p:nvSpPr>
        <p:spPr>
          <a:xfrm>
            <a:off x="11379200" y="5461000"/>
            <a:ext cx="59055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H1实际收入高于指引上限2.15%，扣非净利润处于指引区间内。超指引是正面信号，但全年预测要求更高。</a:t>
            </a:r>
            <a:endParaRPr lang="en-US" sz="1600" noProof="1"/>
          </a:p>
        </p:txBody>
      </p:sp>
      <p:sp>
        <p:nvSpPr>
          <p:cNvPr id="15" name="h2-note-bg"/>
          <p:cNvSpPr/>
          <p:nvPr/>
        </p:nvSpPr>
        <p:spPr>
          <a:xfrm>
            <a:off x="800100" y="7747000"/>
            <a:ext cx="16687800" cy="698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" name="h2-note-title"/>
          <p:cNvSpPr txBox="1"/>
          <p:nvPr/>
        </p:nvSpPr>
        <p:spPr>
          <a:xfrm>
            <a:off x="1003300" y="7874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判别点</a:t>
            </a:r>
            <a:endParaRPr lang="en-US" sz="1600" noProof="1"/>
          </a:p>
        </p:txBody>
      </p:sp>
      <p:sp>
        <p:nvSpPr>
          <p:cNvPr id="17" name="h2-note-body"/>
          <p:cNvSpPr txBox="1"/>
          <p:nvPr/>
        </p:nvSpPr>
        <p:spPr>
          <a:xfrm>
            <a:off x="1003300" y="8255000"/>
            <a:ext cx="16281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Q3与Q4需同时验证交付、价格和费用；若H2仍接近H1增速，全年收入预测下修压力上升。</a:t>
            </a:r>
            <a:endParaRPr lang="en-US" sz="1600" noProof="1"/>
          </a:p>
        </p:txBody>
      </p:sp>
      <p:sp>
        <p:nvSpPr>
          <p:cNvPr id="18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H2预测=全年预测−H1实际；2025H2=2025全年−2025H1，团队计算。2. 公司上市公告书PDF第36页；招股书H1指引。</a:t>
            </a:r>
            <a:endParaRPr lang="en-US" sz="1200" noProof="1"/>
          </a:p>
        </p:txBody>
      </p:sp>
      <p:sp>
        <p:nvSpPr>
          <p:cNvPr id="19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0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1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2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19</a:t>
            </a:r>
            <a:endParaRPr lang="en-US" sz="12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Three › Valuation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基准情景每股248元隐含63%下行，乐观情景也低于672元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估值回归是主要下行来源，即便盈利达到卖方预测也不能完全对冲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val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2028情景价值：倍数与盈利必须同时讨论</a:t>
            </a:r>
            <a:endParaRPr lang="en-US" sz="1800" noProof="1"/>
          </a:p>
        </p:txBody>
      </p:sp>
      <p:sp>
        <p:nvSpPr>
          <p:cNvPr id="7" name="sc悲观-bg"/>
          <p:cNvSpPr/>
          <p:nvPr/>
        </p:nvSpPr>
        <p:spPr>
          <a:xfrm>
            <a:off x="800100" y="2413000"/>
            <a:ext cx="5334000" cy="311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" name="sc悲观-title"/>
          <p:cNvSpPr txBox="1"/>
          <p:nvPr/>
        </p:nvSpPr>
        <p:spPr>
          <a:xfrm>
            <a:off x="1003300" y="2540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悲观情景</a:t>
            </a:r>
            <a:endParaRPr lang="en-US" sz="1600" noProof="1"/>
          </a:p>
        </p:txBody>
      </p:sp>
      <p:sp>
        <p:nvSpPr>
          <p:cNvPr id="9" name="sc悲观-body"/>
          <p:cNvSpPr txBox="1"/>
          <p:nvPr/>
        </p:nvSpPr>
        <p:spPr>
          <a:xfrm>
            <a:off x="1003300" y="2921000"/>
            <a:ext cx="4927600" cy="2501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净利10.0亿 × 40x
每股99元；相对672元−85%</a:t>
            </a:r>
            <a:endParaRPr lang="en-US" sz="1600" noProof="1"/>
          </a:p>
        </p:txBody>
      </p:sp>
      <p:sp>
        <p:nvSpPr>
          <p:cNvPr id="10" name="sc基准-bg"/>
          <p:cNvSpPr/>
          <p:nvPr/>
        </p:nvSpPr>
        <p:spPr>
          <a:xfrm>
            <a:off x="6451600" y="2413000"/>
            <a:ext cx="5334000" cy="3111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1" name="sc基准-title"/>
          <p:cNvSpPr txBox="1"/>
          <p:nvPr/>
        </p:nvSpPr>
        <p:spPr>
          <a:xfrm>
            <a:off x="6654800" y="2540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基准情景</a:t>
            </a:r>
            <a:endParaRPr lang="en-US" sz="1600" noProof="1"/>
          </a:p>
        </p:txBody>
      </p:sp>
      <p:sp>
        <p:nvSpPr>
          <p:cNvPr id="12" name="sc基准-body"/>
          <p:cNvSpPr txBox="1"/>
          <p:nvPr/>
        </p:nvSpPr>
        <p:spPr>
          <a:xfrm>
            <a:off x="6654800" y="2921000"/>
            <a:ext cx="4927600" cy="2501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净利16.72亿 × 60x
每股248元；相对672元−63%</a:t>
            </a:r>
            <a:endParaRPr lang="en-US" sz="1600" noProof="1"/>
          </a:p>
        </p:txBody>
      </p:sp>
      <p:sp>
        <p:nvSpPr>
          <p:cNvPr id="13" name="sc乐观-bg"/>
          <p:cNvSpPr/>
          <p:nvPr/>
        </p:nvSpPr>
        <p:spPr>
          <a:xfrm>
            <a:off x="12103100" y="2413000"/>
            <a:ext cx="5334000" cy="311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" name="sc乐观-title"/>
          <p:cNvSpPr txBox="1"/>
          <p:nvPr/>
        </p:nvSpPr>
        <p:spPr>
          <a:xfrm>
            <a:off x="12306300" y="2540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乐观情景</a:t>
            </a:r>
            <a:endParaRPr lang="en-US" sz="1600" noProof="1"/>
          </a:p>
        </p:txBody>
      </p:sp>
      <p:sp>
        <p:nvSpPr>
          <p:cNvPr id="15" name="sc乐观-body"/>
          <p:cNvSpPr txBox="1"/>
          <p:nvPr/>
        </p:nvSpPr>
        <p:spPr>
          <a:xfrm>
            <a:off x="12306300" y="2921000"/>
            <a:ext cx="4927600" cy="2501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净利22.37亿 × 90x
每股498元；相对672元−26%</a:t>
            </a:r>
            <a:endParaRPr lang="en-US" sz="1600" noProof="1"/>
          </a:p>
        </p:txBody>
      </p:sp>
      <p:sp>
        <p:nvSpPr>
          <p:cNvPr id="16" name="required-bg"/>
          <p:cNvSpPr/>
          <p:nvPr/>
        </p:nvSpPr>
        <p:spPr>
          <a:xfrm>
            <a:off x="800100" y="6096000"/>
            <a:ext cx="8001000" cy="208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" name="required-label"/>
          <p:cNvSpPr txBox="1"/>
          <p:nvPr/>
        </p:nvSpPr>
        <p:spPr>
          <a:xfrm>
            <a:off x="1003300" y="6273800"/>
            <a:ext cx="7594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维持672元的数学要求</a:t>
            </a:r>
            <a:endParaRPr lang="en-US" sz="1400" noProof="1"/>
          </a:p>
        </p:txBody>
      </p:sp>
      <p:sp>
        <p:nvSpPr>
          <p:cNvPr id="18" name="required-value"/>
          <p:cNvSpPr txBox="1"/>
          <p:nvPr/>
        </p:nvSpPr>
        <p:spPr>
          <a:xfrm>
            <a:off x="1003300" y="6629400"/>
            <a:ext cx="7594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3600" noProof="1" b="1">
                <a:solidFill>
                  <a:srgbClr val="051C2C"/>
                </a:solidFill>
                <a:latin typeface="Georgia"/>
                <a:ea typeface="Georgia"/>
              </a:rPr>
              <a:t>45.30亿元</a:t>
            </a:r>
            <a:endParaRPr lang="en-US" sz="3600" noProof="1"/>
          </a:p>
        </p:txBody>
      </p:sp>
      <p:sp>
        <p:nvSpPr>
          <p:cNvPr id="19" name="required-note"/>
          <p:cNvSpPr txBox="1"/>
          <p:nvPr/>
        </p:nvSpPr>
        <p:spPr>
          <a:xfrm>
            <a:off x="1003300" y="7366000"/>
            <a:ext cx="7594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假设2028年60x PE；为三家预测均值2.71倍。</a:t>
            </a:r>
            <a:endParaRPr lang="en-US" sz="1600" noProof="1"/>
          </a:p>
        </p:txBody>
      </p:sp>
      <p:sp>
        <p:nvSpPr>
          <p:cNvPr id="20" name="val-note-bg"/>
          <p:cNvSpPr/>
          <p:nvPr/>
        </p:nvSpPr>
        <p:spPr>
          <a:xfrm>
            <a:off x="9207500" y="6096000"/>
            <a:ext cx="8280400" cy="2222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21" name="val-note-title"/>
          <p:cNvSpPr txBox="1"/>
          <p:nvPr/>
        </p:nvSpPr>
        <p:spPr>
          <a:xfrm>
            <a:off x="9410700" y="62230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IC解释</a:t>
            </a:r>
            <a:endParaRPr lang="en-US" sz="1600" noProof="1"/>
          </a:p>
        </p:txBody>
      </p:sp>
      <p:sp>
        <p:nvSpPr>
          <p:cNvPr id="22" name="val-note-body"/>
          <p:cNvSpPr txBox="1"/>
          <p:nvPr/>
        </p:nvSpPr>
        <p:spPr>
          <a:xfrm>
            <a:off x="9410700" y="6604000"/>
            <a:ext cx="7874000" cy="161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乐观情景采用东吴最高利润预测和90x退出PE，仍低于当前价格。当前风险收益比不支持新增仓位；情景不是目标价。</a:t>
            </a:r>
            <a:endParaRPr lang="en-US" sz="1600" noProof="1"/>
          </a:p>
        </p:txBody>
      </p:sp>
      <p:sp>
        <p:nvSpPr>
          <p:cNvPr id="23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情景由团队设定：概率不作为事实展示，净利润与退出PE均为假设。2. 当前市值2718亿元；三家均值16.72亿元，东吴最高22.37亿元。</a:t>
            </a:r>
            <a:endParaRPr lang="en-US" sz="1200" noProof="1"/>
          </a:p>
        </p:txBody>
      </p:sp>
      <p:sp>
        <p:nvSpPr>
          <p:cNvPr id="24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5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6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7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20</a:t>
            </a:r>
            <a:endParaRPr lang="en-US" sz="12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Four › Development Path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42.02亿元募投把路径指向模型与产能，回报取决于部署和产线利用率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未来发展以模型商业化、产品工业适配和制造效率三条证据链跟踪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path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42.02亿元计划募投：研发优先，制造扩张随后</a:t>
            </a:r>
            <a:endParaRPr lang="en-US" sz="1800" noProof="1"/>
          </a:p>
        </p:txBody>
      </p:sp>
      <p:sp>
        <p:nvSpPr>
          <p:cNvPr id="7" name="path-table-h0"/>
          <p:cNvSpPr txBox="1"/>
          <p:nvPr/>
        </p:nvSpPr>
        <p:spPr>
          <a:xfrm>
            <a:off x="825500" y="2413000"/>
            <a:ext cx="32893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项目</a:t>
            </a:r>
            <a:endParaRPr lang="en-US" sz="1400" noProof="1"/>
          </a:p>
        </p:txBody>
      </p:sp>
      <p:sp>
        <p:nvSpPr>
          <p:cNvPr id="8" name="path-table-h1"/>
          <p:cNvSpPr txBox="1"/>
          <p:nvPr/>
        </p:nvSpPr>
        <p:spPr>
          <a:xfrm>
            <a:off x="4191000" y="2413000"/>
            <a:ext cx="309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投入</a:t>
            </a:r>
            <a:endParaRPr lang="en-US" sz="1400" noProof="1"/>
          </a:p>
        </p:txBody>
      </p:sp>
      <p:sp>
        <p:nvSpPr>
          <p:cNvPr id="9" name="path-table-h2"/>
          <p:cNvSpPr txBox="1"/>
          <p:nvPr/>
        </p:nvSpPr>
        <p:spPr>
          <a:xfrm>
            <a:off x="7366000" y="24130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发展路径</a:t>
            </a:r>
            <a:endParaRPr lang="en-US" sz="1400" noProof="1"/>
          </a:p>
        </p:txBody>
      </p:sp>
      <p:sp>
        <p:nvSpPr>
          <p:cNvPr id="10" name="path-table-h3"/>
          <p:cNvSpPr txBox="1"/>
          <p:nvPr/>
        </p:nvSpPr>
        <p:spPr>
          <a:xfrm>
            <a:off x="12319000" y="2413000"/>
            <a:ext cx="44323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兑现指标</a:t>
            </a:r>
            <a:endParaRPr lang="en-US" sz="1400" noProof="1"/>
          </a:p>
        </p:txBody>
      </p:sp>
      <p:sp>
        <p:nvSpPr>
          <p:cNvPr id="11" name="path-table-hr0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27305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12" name="path-table-r0c0"/>
          <p:cNvSpPr txBox="1"/>
          <p:nvPr/>
        </p:nvSpPr>
        <p:spPr>
          <a:xfrm>
            <a:off x="825500" y="27940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智能机器人模型</a:t>
            </a:r>
            <a:endParaRPr lang="en-US" sz="1600" noProof="1"/>
          </a:p>
        </p:txBody>
      </p:sp>
      <p:sp>
        <p:nvSpPr>
          <p:cNvPr id="13" name="path-table-r0c1"/>
          <p:cNvSpPr txBox="1"/>
          <p:nvPr/>
        </p:nvSpPr>
        <p:spPr>
          <a:xfrm>
            <a:off x="4191000" y="2794000"/>
            <a:ext cx="3098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20.22亿元 / 48.13%</a:t>
            </a:r>
            <a:endParaRPr lang="en-US" sz="1600" noProof="1"/>
          </a:p>
        </p:txBody>
      </p:sp>
      <p:sp>
        <p:nvSpPr>
          <p:cNvPr id="14" name="path-table-r0c2"/>
          <p:cNvSpPr txBox="1"/>
          <p:nvPr/>
        </p:nvSpPr>
        <p:spPr>
          <a:xfrm>
            <a:off x="7366000" y="2794000"/>
            <a:ext cx="4876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数据、算力、模型训练与部署</a:t>
            </a:r>
            <a:endParaRPr lang="en-US" sz="1600" noProof="1"/>
          </a:p>
        </p:txBody>
      </p:sp>
      <p:sp>
        <p:nvSpPr>
          <p:cNvPr id="15" name="path-table-r0c3"/>
          <p:cNvSpPr txBox="1"/>
          <p:nvPr/>
        </p:nvSpPr>
        <p:spPr>
          <a:xfrm>
            <a:off x="12319000" y="2794000"/>
            <a:ext cx="44323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真实客户任务成功率与复购</a:t>
            </a:r>
            <a:endParaRPr lang="en-US" sz="1600" noProof="1"/>
          </a:p>
        </p:txBody>
      </p:sp>
      <p:sp>
        <p:nvSpPr>
          <p:cNvPr id="16" name="path-table-hr1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36830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7" name="path-table-r1c0"/>
          <p:cNvSpPr txBox="1"/>
          <p:nvPr/>
        </p:nvSpPr>
        <p:spPr>
          <a:xfrm>
            <a:off x="825500" y="37465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机器人本体研发</a:t>
            </a:r>
            <a:endParaRPr lang="en-US" sz="1600" noProof="1"/>
          </a:p>
        </p:txBody>
      </p:sp>
      <p:sp>
        <p:nvSpPr>
          <p:cNvPr id="18" name="path-table-r1c1"/>
          <p:cNvSpPr txBox="1"/>
          <p:nvPr/>
        </p:nvSpPr>
        <p:spPr>
          <a:xfrm>
            <a:off x="4191000" y="3746500"/>
            <a:ext cx="3098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11.10亿元 / 26.41%</a:t>
            </a:r>
            <a:endParaRPr lang="en-US" sz="1600" noProof="1"/>
          </a:p>
        </p:txBody>
      </p:sp>
      <p:sp>
        <p:nvSpPr>
          <p:cNvPr id="19" name="path-table-r1c2"/>
          <p:cNvSpPr txBox="1"/>
          <p:nvPr/>
        </p:nvSpPr>
        <p:spPr>
          <a:xfrm>
            <a:off x="7366000" y="3746500"/>
            <a:ext cx="4876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电机、传动、轻量化、热控</a:t>
            </a:r>
            <a:endParaRPr lang="en-US" sz="1600" noProof="1"/>
          </a:p>
        </p:txBody>
      </p:sp>
      <p:sp>
        <p:nvSpPr>
          <p:cNvPr id="20" name="path-table-r1c3"/>
          <p:cNvSpPr txBox="1"/>
          <p:nvPr/>
        </p:nvSpPr>
        <p:spPr>
          <a:xfrm>
            <a:off x="12319000" y="3746500"/>
            <a:ext cx="44323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负载/续航/耐久提升</a:t>
            </a:r>
            <a:endParaRPr lang="en-US" sz="1600" noProof="1"/>
          </a:p>
        </p:txBody>
      </p:sp>
      <p:sp>
        <p:nvSpPr>
          <p:cNvPr id="21" name="path-table-hr2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46355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2" name="path-table-r2c0"/>
          <p:cNvSpPr txBox="1"/>
          <p:nvPr/>
        </p:nvSpPr>
        <p:spPr>
          <a:xfrm>
            <a:off x="825500" y="46990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新型产品开发</a:t>
            </a:r>
            <a:endParaRPr lang="en-US" sz="1600" noProof="1"/>
          </a:p>
        </p:txBody>
      </p:sp>
      <p:sp>
        <p:nvSpPr>
          <p:cNvPr id="23" name="path-table-r2c1"/>
          <p:cNvSpPr txBox="1"/>
          <p:nvPr/>
        </p:nvSpPr>
        <p:spPr>
          <a:xfrm>
            <a:off x="4191000" y="4699000"/>
            <a:ext cx="3098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4.45亿元 / 10.60%</a:t>
            </a:r>
            <a:endParaRPr lang="en-US" sz="1600" noProof="1"/>
          </a:p>
        </p:txBody>
      </p:sp>
      <p:sp>
        <p:nvSpPr>
          <p:cNvPr id="24" name="path-table-r2c2"/>
          <p:cNvSpPr txBox="1"/>
          <p:nvPr/>
        </p:nvSpPr>
        <p:spPr>
          <a:xfrm>
            <a:off x="7366000" y="4699000"/>
            <a:ext cx="4876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多品类、多场景产品</a:t>
            </a:r>
            <a:endParaRPr lang="en-US" sz="1600" noProof="1"/>
          </a:p>
        </p:txBody>
      </p:sp>
      <p:sp>
        <p:nvSpPr>
          <p:cNvPr id="25" name="path-table-r2c3"/>
          <p:cNvSpPr txBox="1"/>
          <p:nvPr/>
        </p:nvSpPr>
        <p:spPr>
          <a:xfrm>
            <a:off x="12319000" y="4699000"/>
            <a:ext cx="44323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新品收入与SKU毛利</a:t>
            </a:r>
            <a:endParaRPr lang="en-US" sz="1600" noProof="1"/>
          </a:p>
        </p:txBody>
      </p:sp>
      <p:sp>
        <p:nvSpPr>
          <p:cNvPr id="26" name="path-table-hr3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55880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7" name="path-table-r3c0"/>
          <p:cNvSpPr txBox="1"/>
          <p:nvPr/>
        </p:nvSpPr>
        <p:spPr>
          <a:xfrm>
            <a:off x="825500" y="5651500"/>
            <a:ext cx="32893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制造基地</a:t>
            </a:r>
            <a:endParaRPr lang="en-US" sz="1600" noProof="1"/>
          </a:p>
        </p:txBody>
      </p:sp>
      <p:sp>
        <p:nvSpPr>
          <p:cNvPr id="28" name="path-table-r3c1"/>
          <p:cNvSpPr txBox="1"/>
          <p:nvPr/>
        </p:nvSpPr>
        <p:spPr>
          <a:xfrm>
            <a:off x="4191000" y="5651500"/>
            <a:ext cx="3098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6.24亿元 / 14.85%</a:t>
            </a:r>
            <a:endParaRPr lang="en-US" sz="1600" noProof="1"/>
          </a:p>
        </p:txBody>
      </p:sp>
      <p:sp>
        <p:nvSpPr>
          <p:cNvPr id="29" name="path-table-r3c2"/>
          <p:cNvSpPr txBox="1"/>
          <p:nvPr/>
        </p:nvSpPr>
        <p:spPr>
          <a:xfrm>
            <a:off x="7366000" y="5651500"/>
            <a:ext cx="4876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自动化产线与交付能力</a:t>
            </a:r>
            <a:endParaRPr lang="en-US" sz="1600" noProof="1"/>
          </a:p>
        </p:txBody>
      </p:sp>
      <p:sp>
        <p:nvSpPr>
          <p:cNvPr id="30" name="path-table-r3c3"/>
          <p:cNvSpPr txBox="1"/>
          <p:nvPr/>
        </p:nvSpPr>
        <p:spPr>
          <a:xfrm>
            <a:off x="12319000" y="5651500"/>
            <a:ext cx="44323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单位成本、良率、利用率</a:t>
            </a:r>
            <a:endParaRPr lang="en-US" sz="1600" noProof="1"/>
          </a:p>
        </p:txBody>
      </p:sp>
      <p:sp>
        <p:nvSpPr>
          <p:cNvPr id="31" name="path-table-hr4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65405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2" name="path-note-bg"/>
          <p:cNvSpPr/>
          <p:nvPr/>
        </p:nvSpPr>
        <p:spPr>
          <a:xfrm>
            <a:off x="825500" y="6794500"/>
            <a:ext cx="16687800" cy="1460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33" name="path-note-title"/>
          <p:cNvSpPr txBox="1"/>
          <p:nvPr/>
        </p:nvSpPr>
        <p:spPr>
          <a:xfrm>
            <a:off x="1028700" y="69215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路径判断</a:t>
            </a:r>
            <a:endParaRPr lang="en-US" sz="1600" noProof="1"/>
          </a:p>
        </p:txBody>
      </p:sp>
      <p:sp>
        <p:nvSpPr>
          <p:cNvPr id="34" name="path-note-body"/>
          <p:cNvSpPr txBox="1"/>
          <p:nvPr/>
        </p:nvSpPr>
        <p:spPr>
          <a:xfrm>
            <a:off x="1028700" y="7302500"/>
            <a:ext cx="162814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资本开支解决资金约束，不直接解决需求约束。产能扩张应与订单、产线利用率和真实部署同步；模型投入应与连续作业数据同步，避免“投入即成果”的会计误判。</a:t>
            </a:r>
            <a:endParaRPr lang="en-US" sz="1600" noProof="1"/>
          </a:p>
        </p:txBody>
      </p:sp>
      <p:sp>
        <p:nvSpPr>
          <p:cNvPr id="35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公司招股书注册稿PDF第245—253页；第二轮问询回复PDF第37—38页。</a:t>
            </a:r>
            <a:endParaRPr lang="en-US" sz="1200" noProof="1"/>
          </a:p>
        </p:txBody>
      </p:sp>
      <p:sp>
        <p:nvSpPr>
          <p:cNvPr id="36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7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38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9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21</a:t>
            </a:r>
            <a:endParaRPr lang="en-US" sz="12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Four › Catalysts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未来12个月有5类催化，10月29日Q3最先检验收入再加速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将催化映射到可观察指标，避免把活动时间表当作盈利时间表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cat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催化不是事件名称，而是事件需要回答的问题</a:t>
            </a:r>
            <a:endParaRPr lang="en-US" sz="1800" noProof="1"/>
          </a:p>
        </p:txBody>
      </p:sp>
      <p:sp>
        <p:nvSpPr>
          <p:cNvPr id="7" name="cat-table-h0"/>
          <p:cNvSpPr txBox="1"/>
          <p:nvPr/>
        </p:nvSpPr>
        <p:spPr>
          <a:xfrm>
            <a:off x="825500" y="2413000"/>
            <a:ext cx="2717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时间</a:t>
            </a:r>
            <a:endParaRPr lang="en-US" sz="1400" noProof="1"/>
          </a:p>
        </p:txBody>
      </p:sp>
      <p:sp>
        <p:nvSpPr>
          <p:cNvPr id="8" name="cat-table-h1"/>
          <p:cNvSpPr txBox="1"/>
          <p:nvPr/>
        </p:nvSpPr>
        <p:spPr>
          <a:xfrm>
            <a:off x="3619500" y="2413000"/>
            <a:ext cx="373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事件</a:t>
            </a:r>
            <a:endParaRPr lang="en-US" sz="1400" noProof="1"/>
          </a:p>
        </p:txBody>
      </p:sp>
      <p:sp>
        <p:nvSpPr>
          <p:cNvPr id="9" name="cat-table-h2"/>
          <p:cNvSpPr txBox="1"/>
          <p:nvPr/>
        </p:nvSpPr>
        <p:spPr>
          <a:xfrm>
            <a:off x="7429500" y="2413000"/>
            <a:ext cx="932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需验证的核心问题</a:t>
            </a:r>
            <a:endParaRPr lang="en-US" sz="1400" noProof="1"/>
          </a:p>
        </p:txBody>
      </p:sp>
      <p:sp>
        <p:nvSpPr>
          <p:cNvPr id="10" name="cat-table-hr0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27305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11" name="cat-table-r0c0"/>
          <p:cNvSpPr txBox="1"/>
          <p:nvPr/>
        </p:nvSpPr>
        <p:spPr>
          <a:xfrm>
            <a:off x="825500" y="2794000"/>
            <a:ext cx="2717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2026-10-29</a:t>
            </a:r>
            <a:endParaRPr lang="en-US" sz="1600" noProof="1"/>
          </a:p>
        </p:txBody>
      </p:sp>
      <p:sp>
        <p:nvSpPr>
          <p:cNvPr id="12" name="cat-table-r0c1"/>
          <p:cNvSpPr txBox="1"/>
          <p:nvPr/>
        </p:nvSpPr>
        <p:spPr>
          <a:xfrm>
            <a:off x="3619500" y="2794000"/>
            <a:ext cx="3733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2026Q3披露</a:t>
            </a:r>
            <a:endParaRPr lang="en-US" sz="1600" noProof="1"/>
          </a:p>
        </p:txBody>
      </p:sp>
      <p:sp>
        <p:nvSpPr>
          <p:cNvPr id="13" name="cat-table-r0c2"/>
          <p:cNvSpPr txBox="1"/>
          <p:nvPr/>
        </p:nvSpPr>
        <p:spPr>
          <a:xfrm>
            <a:off x="7429500" y="2794000"/>
            <a:ext cx="9321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收入是否较H1再加速；扣非与现金是否改善</a:t>
            </a:r>
            <a:endParaRPr lang="en-US" sz="1600" noProof="1"/>
          </a:p>
        </p:txBody>
      </p:sp>
      <p:sp>
        <p:nvSpPr>
          <p:cNvPr id="14" name="cat-table-hr1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36449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5" name="cat-table-r1c0"/>
          <p:cNvSpPr txBox="1"/>
          <p:nvPr/>
        </p:nvSpPr>
        <p:spPr>
          <a:xfrm>
            <a:off x="825500" y="3708400"/>
            <a:ext cx="2717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2026Q4</a:t>
            </a:r>
            <a:endParaRPr lang="en-US" sz="1600" noProof="1"/>
          </a:p>
        </p:txBody>
      </p:sp>
      <p:sp>
        <p:nvSpPr>
          <p:cNvPr id="16" name="cat-table-r1c1"/>
          <p:cNvSpPr txBox="1"/>
          <p:nvPr/>
        </p:nvSpPr>
        <p:spPr>
          <a:xfrm>
            <a:off x="3619500" y="3708400"/>
            <a:ext cx="3733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全年交付与新品</a:t>
            </a:r>
            <a:endParaRPr lang="en-US" sz="1600" noProof="1"/>
          </a:p>
        </p:txBody>
      </p:sp>
      <p:sp>
        <p:nvSpPr>
          <p:cNvPr id="17" name="cat-table-r1c2"/>
          <p:cNvSpPr txBox="1"/>
          <p:nvPr/>
        </p:nvSpPr>
        <p:spPr>
          <a:xfrm>
            <a:off x="7429500" y="3708400"/>
            <a:ext cx="9321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H2是否达到73.6%—110.6%机构隐含增速</a:t>
            </a:r>
            <a:endParaRPr lang="en-US" sz="1600" noProof="1"/>
          </a:p>
        </p:txBody>
      </p:sp>
      <p:sp>
        <p:nvSpPr>
          <p:cNvPr id="18" name="cat-table-hr2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45593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9" name="cat-table-r2c0"/>
          <p:cNvSpPr txBox="1"/>
          <p:nvPr/>
        </p:nvSpPr>
        <p:spPr>
          <a:xfrm>
            <a:off x="825500" y="4622800"/>
            <a:ext cx="2717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2026年底</a:t>
            </a:r>
            <a:endParaRPr lang="en-US" sz="1600" noProof="1"/>
          </a:p>
        </p:txBody>
      </p:sp>
      <p:sp>
        <p:nvSpPr>
          <p:cNvPr id="20" name="cat-table-r2c1"/>
          <p:cNvSpPr txBox="1"/>
          <p:nvPr/>
        </p:nvSpPr>
        <p:spPr>
          <a:xfrm>
            <a:off x="3619500" y="4622800"/>
            <a:ext cx="3733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实景实训政策节点</a:t>
            </a:r>
            <a:endParaRPr lang="en-US" sz="1600" noProof="1"/>
          </a:p>
        </p:txBody>
      </p:sp>
      <p:sp>
        <p:nvSpPr>
          <p:cNvPr id="21" name="cat-table-r2c2"/>
          <p:cNvSpPr txBox="1"/>
          <p:nvPr/>
        </p:nvSpPr>
        <p:spPr>
          <a:xfrm>
            <a:off x="7429500" y="4622800"/>
            <a:ext cx="9321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是否形成常态部署而非一次性展示</a:t>
            </a:r>
            <a:endParaRPr lang="en-US" sz="1600" noProof="1"/>
          </a:p>
        </p:txBody>
      </p:sp>
      <p:sp>
        <p:nvSpPr>
          <p:cNvPr id="22" name="cat-table-hr3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54737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3" name="cat-table-r3c0"/>
          <p:cNvSpPr txBox="1"/>
          <p:nvPr/>
        </p:nvSpPr>
        <p:spPr>
          <a:xfrm>
            <a:off x="825500" y="5537200"/>
            <a:ext cx="2717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2027年</a:t>
            </a:r>
            <a:endParaRPr lang="en-US" sz="1600" noProof="1"/>
          </a:p>
        </p:txBody>
      </p:sp>
      <p:sp>
        <p:nvSpPr>
          <p:cNvPr id="24" name="cat-table-r3c1"/>
          <p:cNvSpPr txBox="1"/>
          <p:nvPr/>
        </p:nvSpPr>
        <p:spPr>
          <a:xfrm>
            <a:off x="3619500" y="5537200"/>
            <a:ext cx="3733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模型与本体迭代</a:t>
            </a:r>
            <a:endParaRPr lang="en-US" sz="1600" noProof="1"/>
          </a:p>
        </p:txBody>
      </p:sp>
      <p:sp>
        <p:nvSpPr>
          <p:cNvPr id="25" name="cat-table-r3c2"/>
          <p:cNvSpPr txBox="1"/>
          <p:nvPr/>
        </p:nvSpPr>
        <p:spPr>
          <a:xfrm>
            <a:off x="7429500" y="5537200"/>
            <a:ext cx="9321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真实客户连续作业、复购、工业SKU毛利</a:t>
            </a:r>
            <a:endParaRPr lang="en-US" sz="1600" noProof="1"/>
          </a:p>
        </p:txBody>
      </p:sp>
      <p:sp>
        <p:nvSpPr>
          <p:cNvPr id="26" name="cat-table-hr4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63881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7" name="cat-table-r4c0"/>
          <p:cNvSpPr txBox="1"/>
          <p:nvPr/>
        </p:nvSpPr>
        <p:spPr>
          <a:xfrm>
            <a:off x="825500" y="6451600"/>
            <a:ext cx="2717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2027年8月后</a:t>
            </a:r>
            <a:endParaRPr lang="en-US" sz="1600" noProof="1"/>
          </a:p>
        </p:txBody>
      </p:sp>
      <p:sp>
        <p:nvSpPr>
          <p:cNvPr id="28" name="cat-table-r4c1"/>
          <p:cNvSpPr txBox="1"/>
          <p:nvPr/>
        </p:nvSpPr>
        <p:spPr>
          <a:xfrm>
            <a:off x="3619500" y="6451600"/>
            <a:ext cx="3733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限售与流通结构变化</a:t>
            </a:r>
            <a:endParaRPr lang="en-US" sz="1600" noProof="1"/>
          </a:p>
        </p:txBody>
      </p:sp>
      <p:sp>
        <p:nvSpPr>
          <p:cNvPr id="29" name="cat-table-r4c2"/>
          <p:cNvSpPr txBox="1"/>
          <p:nvPr/>
        </p:nvSpPr>
        <p:spPr>
          <a:xfrm>
            <a:off x="7429500" y="6451600"/>
            <a:ext cx="9321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估值与筹码波动是否放大基本面偏差</a:t>
            </a:r>
            <a:endParaRPr lang="en-US" sz="1600" noProof="1"/>
          </a:p>
        </p:txBody>
      </p:sp>
      <p:sp>
        <p:nvSpPr>
          <p:cNvPr id="30" name="cat-table-hr5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73025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1" name="cat-note-bg"/>
          <p:cNvSpPr/>
          <p:nvPr/>
        </p:nvSpPr>
        <p:spPr>
          <a:xfrm>
            <a:off x="825500" y="7493000"/>
            <a:ext cx="16687800" cy="952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32" name="cat-note-title"/>
          <p:cNvSpPr txBox="1"/>
          <p:nvPr/>
        </p:nvSpPr>
        <p:spPr>
          <a:xfrm>
            <a:off x="1028700" y="7620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优先级</a:t>
            </a:r>
            <a:endParaRPr lang="en-US" sz="1600" noProof="1"/>
          </a:p>
        </p:txBody>
      </p:sp>
      <p:sp>
        <p:nvSpPr>
          <p:cNvPr id="33" name="cat-note-body"/>
          <p:cNvSpPr txBox="1"/>
          <p:nvPr/>
        </p:nvSpPr>
        <p:spPr>
          <a:xfrm>
            <a:off x="1028700" y="8001000"/>
            <a:ext cx="162814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Q3是最近的财务验证；真实客户连续作业与复购是最重要的基本面催化，权重高于展会、表演和模型发布。</a:t>
            </a:r>
            <a:endParaRPr lang="en-US" sz="1600" noProof="1"/>
          </a:p>
        </p:txBody>
      </p:sp>
      <p:sp>
        <p:nvSpPr>
          <p:cNvPr id="34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Q3预约披露日期来自公开披露日程；截至2026-10-26尚无Q3实际业绩。2. 政策节点来自太平洋报告PDF第16页。</a:t>
            </a:r>
            <a:endParaRPr lang="en-US" sz="1200" noProof="1"/>
          </a:p>
        </p:txBody>
      </p:sp>
      <p:sp>
        <p:nvSpPr>
          <p:cNvPr id="35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6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37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8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22</a:t>
            </a:r>
            <a:endParaRPr lang="en-US" sz="12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Four › Risk Register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5项风险均有监控序列，估值与商业化是仓位约束的前两位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风险管理围绕可观察序列，而不是泛泛罗列行业不确定性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risk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风险登记册：每项风险对应披露序列与复核频率</a:t>
            </a:r>
            <a:endParaRPr lang="en-US" sz="1800" noProof="1"/>
          </a:p>
        </p:txBody>
      </p:sp>
      <p:sp>
        <p:nvSpPr>
          <p:cNvPr id="7" name="risk-table-h0"/>
          <p:cNvSpPr txBox="1"/>
          <p:nvPr/>
        </p:nvSpPr>
        <p:spPr>
          <a:xfrm>
            <a:off x="825500" y="2413000"/>
            <a:ext cx="3479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风险</a:t>
            </a:r>
            <a:endParaRPr lang="en-US" sz="1400" noProof="1"/>
          </a:p>
        </p:txBody>
      </p:sp>
      <p:sp>
        <p:nvSpPr>
          <p:cNvPr id="8" name="risk-table-h1"/>
          <p:cNvSpPr txBox="1"/>
          <p:nvPr/>
        </p:nvSpPr>
        <p:spPr>
          <a:xfrm>
            <a:off x="4381500" y="2413000"/>
            <a:ext cx="7670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监控序列</a:t>
            </a:r>
            <a:endParaRPr lang="en-US" sz="1400" noProof="1"/>
          </a:p>
        </p:txBody>
      </p:sp>
      <p:sp>
        <p:nvSpPr>
          <p:cNvPr id="9" name="risk-table-h2"/>
          <p:cNvSpPr txBox="1"/>
          <p:nvPr/>
        </p:nvSpPr>
        <p:spPr>
          <a:xfrm>
            <a:off x="12128500" y="2413000"/>
            <a:ext cx="462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复核频率</a:t>
            </a:r>
            <a:endParaRPr lang="en-US" sz="1400" noProof="1"/>
          </a:p>
        </p:txBody>
      </p:sp>
      <p:sp>
        <p:nvSpPr>
          <p:cNvPr id="10" name="risk-table-hr0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27305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11" name="risk-table-r0c0"/>
          <p:cNvSpPr txBox="1"/>
          <p:nvPr/>
        </p:nvSpPr>
        <p:spPr>
          <a:xfrm>
            <a:off x="825500" y="2794000"/>
            <a:ext cx="3479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估值回归</a:t>
            </a:r>
            <a:endParaRPr lang="en-US" sz="1600" noProof="1"/>
          </a:p>
        </p:txBody>
      </p:sp>
      <p:sp>
        <p:nvSpPr>
          <p:cNvPr id="12" name="risk-table-r0c1"/>
          <p:cNvSpPr txBox="1"/>
          <p:nvPr/>
        </p:nvSpPr>
        <p:spPr>
          <a:xfrm>
            <a:off x="4381500" y="2794000"/>
            <a:ext cx="7670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465.22x TTM PE；预测与现价差距</a:t>
            </a:r>
            <a:endParaRPr lang="en-US" sz="1600" noProof="1"/>
          </a:p>
        </p:txBody>
      </p:sp>
      <p:sp>
        <p:nvSpPr>
          <p:cNvPr id="13" name="risk-table-r0c2"/>
          <p:cNvSpPr txBox="1"/>
          <p:nvPr/>
        </p:nvSpPr>
        <p:spPr>
          <a:xfrm>
            <a:off x="12128500" y="2794000"/>
            <a:ext cx="4622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每次财报与价格剧烈波动后</a:t>
            </a:r>
            <a:endParaRPr lang="en-US" sz="1600" noProof="1"/>
          </a:p>
        </p:txBody>
      </p:sp>
      <p:sp>
        <p:nvSpPr>
          <p:cNvPr id="14" name="risk-table-hr1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36957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5" name="risk-table-r1c0"/>
          <p:cNvSpPr txBox="1"/>
          <p:nvPr/>
        </p:nvSpPr>
        <p:spPr>
          <a:xfrm>
            <a:off x="825500" y="3759200"/>
            <a:ext cx="3479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商业化不及预期</a:t>
            </a:r>
            <a:endParaRPr lang="en-US" sz="1600" noProof="1"/>
          </a:p>
        </p:txBody>
      </p:sp>
      <p:sp>
        <p:nvSpPr>
          <p:cNvPr id="16" name="risk-table-r1c1"/>
          <p:cNvSpPr txBox="1"/>
          <p:nvPr/>
        </p:nvSpPr>
        <p:spPr>
          <a:xfrm>
            <a:off x="4381500" y="3759200"/>
            <a:ext cx="7670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生产力场景收入、复购、连续作业</a:t>
            </a:r>
            <a:endParaRPr lang="en-US" sz="1600" noProof="1"/>
          </a:p>
        </p:txBody>
      </p:sp>
      <p:sp>
        <p:nvSpPr>
          <p:cNvPr id="17" name="risk-table-r1c2"/>
          <p:cNvSpPr txBox="1"/>
          <p:nvPr/>
        </p:nvSpPr>
        <p:spPr>
          <a:xfrm>
            <a:off x="12128500" y="3759200"/>
            <a:ext cx="4622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季度；缺少披露则维持谨慎</a:t>
            </a:r>
            <a:endParaRPr lang="en-US" sz="1600" noProof="1"/>
          </a:p>
        </p:txBody>
      </p:sp>
      <p:sp>
        <p:nvSpPr>
          <p:cNvPr id="18" name="risk-table-hr2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46609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9" name="risk-table-r2c0"/>
          <p:cNvSpPr txBox="1"/>
          <p:nvPr/>
        </p:nvSpPr>
        <p:spPr>
          <a:xfrm>
            <a:off x="825500" y="4724400"/>
            <a:ext cx="3479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竞争与价格</a:t>
            </a:r>
            <a:endParaRPr lang="en-US" sz="1600" noProof="1"/>
          </a:p>
        </p:txBody>
      </p:sp>
      <p:sp>
        <p:nvSpPr>
          <p:cNvPr id="20" name="risk-table-r2c1"/>
          <p:cNvSpPr txBox="1"/>
          <p:nvPr/>
        </p:nvSpPr>
        <p:spPr>
          <a:xfrm>
            <a:off x="4381500" y="4724400"/>
            <a:ext cx="7670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出货排名、ASP、分产品毛利率</a:t>
            </a:r>
            <a:endParaRPr lang="en-US" sz="1600" noProof="1"/>
          </a:p>
        </p:txBody>
      </p:sp>
      <p:sp>
        <p:nvSpPr>
          <p:cNvPr id="21" name="risk-table-r2c2"/>
          <p:cNvSpPr txBox="1"/>
          <p:nvPr/>
        </p:nvSpPr>
        <p:spPr>
          <a:xfrm>
            <a:off x="12128500" y="4724400"/>
            <a:ext cx="4622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季度及主要新品发布</a:t>
            </a:r>
            <a:endParaRPr lang="en-US" sz="1600" noProof="1"/>
          </a:p>
        </p:txBody>
      </p:sp>
      <p:sp>
        <p:nvSpPr>
          <p:cNvPr id="22" name="risk-table-hr3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56261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3" name="risk-table-r3c0"/>
          <p:cNvSpPr txBox="1"/>
          <p:nvPr/>
        </p:nvSpPr>
        <p:spPr>
          <a:xfrm>
            <a:off x="825500" y="5689600"/>
            <a:ext cx="3479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费用与现金</a:t>
            </a:r>
            <a:endParaRPr lang="en-US" sz="1600" noProof="1"/>
          </a:p>
        </p:txBody>
      </p:sp>
      <p:sp>
        <p:nvSpPr>
          <p:cNvPr id="24" name="risk-table-r3c1"/>
          <p:cNvSpPr txBox="1"/>
          <p:nvPr/>
        </p:nvSpPr>
        <p:spPr>
          <a:xfrm>
            <a:off x="4381500" y="5689600"/>
            <a:ext cx="7670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研发/销售费用率、经营现金流</a:t>
            </a:r>
            <a:endParaRPr lang="en-US" sz="1600" noProof="1"/>
          </a:p>
        </p:txBody>
      </p:sp>
      <p:sp>
        <p:nvSpPr>
          <p:cNvPr id="25" name="risk-table-r3c2"/>
          <p:cNvSpPr txBox="1"/>
          <p:nvPr/>
        </p:nvSpPr>
        <p:spPr>
          <a:xfrm>
            <a:off x="12128500" y="5689600"/>
            <a:ext cx="4622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每季，关注投入转化</a:t>
            </a:r>
            <a:endParaRPr lang="en-US" sz="1600" noProof="1"/>
          </a:p>
        </p:txBody>
      </p:sp>
      <p:sp>
        <p:nvSpPr>
          <p:cNvPr id="26" name="risk-table-hr4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65913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7" name="risk-table-r4c0"/>
          <p:cNvSpPr txBox="1"/>
          <p:nvPr/>
        </p:nvSpPr>
        <p:spPr>
          <a:xfrm>
            <a:off x="825500" y="6654800"/>
            <a:ext cx="3479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治理与跨境</a:t>
            </a:r>
            <a:endParaRPr lang="en-US" sz="1600" noProof="1"/>
          </a:p>
        </p:txBody>
      </p:sp>
      <p:sp>
        <p:nvSpPr>
          <p:cNvPr id="28" name="risk-table-r4c1"/>
          <p:cNvSpPr txBox="1"/>
          <p:nvPr/>
        </p:nvSpPr>
        <p:spPr>
          <a:xfrm>
            <a:off x="4381500" y="6654800"/>
            <a:ext cx="7670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特别表决权、境外收入、汇兑与限制</a:t>
            </a:r>
            <a:endParaRPr lang="en-US" sz="1600" noProof="1"/>
          </a:p>
        </p:txBody>
      </p:sp>
      <p:sp>
        <p:nvSpPr>
          <p:cNvPr id="29" name="risk-table-r4c2"/>
          <p:cNvSpPr txBox="1"/>
          <p:nvPr/>
        </p:nvSpPr>
        <p:spPr>
          <a:xfrm>
            <a:off x="12128500" y="6654800"/>
            <a:ext cx="46228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半年及政策变化时</a:t>
            </a:r>
            <a:endParaRPr lang="en-US" sz="1600" noProof="1"/>
          </a:p>
        </p:txBody>
      </p:sp>
      <p:sp>
        <p:nvSpPr>
          <p:cNvPr id="30" name="risk-table-hr5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75565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1" name="risk-note-bg"/>
          <p:cNvSpPr/>
          <p:nvPr/>
        </p:nvSpPr>
        <p:spPr>
          <a:xfrm>
            <a:off x="825500" y="7747000"/>
            <a:ext cx="16687800" cy="698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32" name="risk-note-title"/>
          <p:cNvSpPr txBox="1"/>
          <p:nvPr/>
        </p:nvSpPr>
        <p:spPr>
          <a:xfrm>
            <a:off x="1028700" y="7874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仓位约束</a:t>
            </a:r>
            <a:endParaRPr lang="en-US" sz="1600" noProof="1"/>
          </a:p>
        </p:txBody>
      </p:sp>
      <p:sp>
        <p:nvSpPr>
          <p:cNvPr id="33" name="risk-note-body"/>
          <p:cNvSpPr txBox="1"/>
          <p:nvPr/>
        </p:nvSpPr>
        <p:spPr>
          <a:xfrm>
            <a:off x="1028700" y="8255000"/>
            <a:ext cx="16281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当前首先受估值约束；即使公司基本面向好，估值与兑现错位也可能导致负收益。</a:t>
            </a:r>
            <a:endParaRPr lang="en-US" sz="1600" noProof="1"/>
          </a:p>
        </p:txBody>
      </p:sp>
      <p:sp>
        <p:nvSpPr>
          <p:cNvPr id="34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公司异常波动公告PDF第1、3页；招股书风险因素；团队监控框架。</a:t>
            </a:r>
            <a:endParaRPr lang="en-US" sz="1200" noProof="1"/>
          </a:p>
        </p:txBody>
      </p:sp>
      <p:sp>
        <p:nvSpPr>
          <p:cNvPr id="35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6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37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8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23</a:t>
            </a:r>
            <a:endParaRPr lang="en-US" sz="12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Part Four › Strongest Counterargument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最强反对理由是价格已要求完美兑现，三个信号可推翻谨慎结论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反方观点也需要可证伪，避免把谨慎变成永久性负面立场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bear-bg"/>
          <p:cNvSpPr/>
          <p:nvPr/>
        </p:nvSpPr>
        <p:spPr>
          <a:xfrm>
            <a:off x="800100" y="1968500"/>
            <a:ext cx="8001000" cy="635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7" name="bear-title"/>
          <p:cNvSpPr txBox="1"/>
          <p:nvPr/>
        </p:nvSpPr>
        <p:spPr>
          <a:xfrm>
            <a:off x="1003300" y="2146300"/>
            <a:ext cx="7594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最有力的反对理由</a:t>
            </a:r>
            <a:endParaRPr lang="en-US" sz="1600" noProof="1"/>
          </a:p>
        </p:txBody>
      </p:sp>
      <p:sp>
        <p:nvSpPr>
          <p:cNvPr id="8" name="bear-intro"/>
          <p:cNvSpPr txBox="1"/>
          <p:nvPr/>
        </p:nvSpPr>
        <p:spPr>
          <a:xfrm>
            <a:off x="1003300" y="2603500"/>
            <a:ext cx="7594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当前价格要求以下五项同时成立，任何一项缺席都可能触发盈利与估值双杀：</a:t>
            </a:r>
            <a:endParaRPr lang="en-US" sz="1600" noProof="1"/>
          </a:p>
        </p:txBody>
      </p:sp>
      <p:sp>
        <p:nvSpPr>
          <p:cNvPr id="9" name="bear-list-b0"/>
          <p:cNvSpPr/>
          <p:nvPr/>
        </p:nvSpPr>
        <p:spPr>
          <a:xfrm>
            <a:off x="1143000" y="3073400"/>
            <a:ext cx="101600" cy="1016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</p:sp>
      <p:sp>
        <p:nvSpPr>
          <p:cNvPr id="10" name="bear-list-t0"/>
          <p:cNvSpPr txBox="1"/>
          <p:nvPr/>
        </p:nvSpPr>
        <p:spPr>
          <a:xfrm>
            <a:off x="1371600" y="2984500"/>
            <a:ext cx="68199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2026H2收入增速从48.54%显著再加速。</a:t>
            </a:r>
            <a:endParaRPr lang="en-US" sz="1600" noProof="1"/>
          </a:p>
        </p:txBody>
      </p:sp>
      <p:sp>
        <p:nvSpPr>
          <p:cNvPr id="11" name="bear-list-b1"/>
          <p:cNvSpPr/>
          <p:nvPr/>
        </p:nvSpPr>
        <p:spPr>
          <a:xfrm>
            <a:off x="1143000" y="3898900"/>
            <a:ext cx="101600" cy="1016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</p:sp>
      <p:sp>
        <p:nvSpPr>
          <p:cNvPr id="12" name="bear-list-t1"/>
          <p:cNvSpPr txBox="1"/>
          <p:nvPr/>
        </p:nvSpPr>
        <p:spPr>
          <a:xfrm>
            <a:off x="1371600" y="3810000"/>
            <a:ext cx="68199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2028净利润超过最乐观券商预测。</a:t>
            </a:r>
            <a:endParaRPr lang="en-US" sz="1600" noProof="1"/>
          </a:p>
        </p:txBody>
      </p:sp>
      <p:sp>
        <p:nvSpPr>
          <p:cNvPr id="13" name="bear-list-b2"/>
          <p:cNvSpPr/>
          <p:nvPr/>
        </p:nvSpPr>
        <p:spPr>
          <a:xfrm>
            <a:off x="1143000" y="4724400"/>
            <a:ext cx="101600" cy="1016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</p:sp>
      <p:sp>
        <p:nvSpPr>
          <p:cNvPr id="14" name="bear-list-t2"/>
          <p:cNvSpPr txBox="1"/>
          <p:nvPr/>
        </p:nvSpPr>
        <p:spPr>
          <a:xfrm>
            <a:off x="1371600" y="4635500"/>
            <a:ext cx="68199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市场继续给予远高于成熟制造业的估值。</a:t>
            </a:r>
            <a:endParaRPr lang="en-US" sz="1600" noProof="1"/>
          </a:p>
        </p:txBody>
      </p:sp>
      <p:sp>
        <p:nvSpPr>
          <p:cNvPr id="15" name="bear-list-b3"/>
          <p:cNvSpPr/>
          <p:nvPr/>
        </p:nvSpPr>
        <p:spPr>
          <a:xfrm>
            <a:off x="1143000" y="5549900"/>
            <a:ext cx="101600" cy="1016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</p:sp>
      <p:sp>
        <p:nvSpPr>
          <p:cNvPr id="16" name="bear-list-t3"/>
          <p:cNvSpPr txBox="1"/>
          <p:nvPr/>
        </p:nvSpPr>
        <p:spPr>
          <a:xfrm>
            <a:off x="1371600" y="5461000"/>
            <a:ext cx="68199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人形从科研展示顺利转向连续生产。</a:t>
            </a:r>
            <a:endParaRPr lang="en-US" sz="1600" noProof="1"/>
          </a:p>
        </p:txBody>
      </p:sp>
      <p:sp>
        <p:nvSpPr>
          <p:cNvPr id="17" name="bear-list-b4"/>
          <p:cNvSpPr/>
          <p:nvPr/>
        </p:nvSpPr>
        <p:spPr>
          <a:xfrm>
            <a:off x="1143000" y="6375400"/>
            <a:ext cx="101600" cy="10160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</p:sp>
      <p:sp>
        <p:nvSpPr>
          <p:cNvPr id="18" name="bear-list-t4"/>
          <p:cNvSpPr txBox="1"/>
          <p:nvPr/>
        </p:nvSpPr>
        <p:spPr>
          <a:xfrm>
            <a:off x="1371600" y="6286500"/>
            <a:ext cx="68199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毛利率、现金流与份额均不显著恶化。</a:t>
            </a:r>
            <a:endParaRPr lang="en-US" sz="1600" noProof="1"/>
          </a:p>
        </p:txBody>
      </p:sp>
      <p:sp>
        <p:nvSpPr>
          <p:cNvPr id="19" name="rebuttal-bg"/>
          <p:cNvSpPr/>
          <p:nvPr/>
        </p:nvSpPr>
        <p:spPr>
          <a:xfrm>
            <a:off x="9207500" y="1968500"/>
            <a:ext cx="8280400" cy="298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" name="rebuttal-title"/>
          <p:cNvSpPr txBox="1"/>
          <p:nvPr/>
        </p:nvSpPr>
        <p:spPr>
          <a:xfrm>
            <a:off x="9410700" y="20955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多方的有效回应</a:t>
            </a:r>
            <a:endParaRPr lang="en-US" sz="1600" noProof="1"/>
          </a:p>
        </p:txBody>
      </p:sp>
      <p:sp>
        <p:nvSpPr>
          <p:cNvPr id="21" name="rebuttal-body"/>
          <p:cNvSpPr txBox="1"/>
          <p:nvPr/>
        </p:nvSpPr>
        <p:spPr>
          <a:xfrm>
            <a:off x="9410700" y="2476500"/>
            <a:ext cx="7874000" cy="237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公司已经证明出货、收入、毛利与现金流，且H1收入超指引。全栈自研、全球开发者生态和IPO资金使其具备继续领先的资源。</a:t>
            </a:r>
            <a:endParaRPr lang="en-US" sz="1600" noProof="1"/>
          </a:p>
        </p:txBody>
      </p:sp>
      <p:sp>
        <p:nvSpPr>
          <p:cNvPr id="22" name="falsify-bg"/>
          <p:cNvSpPr/>
          <p:nvPr/>
        </p:nvSpPr>
        <p:spPr>
          <a:xfrm>
            <a:off x="9207500" y="5334000"/>
            <a:ext cx="8280400" cy="298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" name="falsify-title"/>
          <p:cNvSpPr txBox="1"/>
          <p:nvPr/>
        </p:nvSpPr>
        <p:spPr>
          <a:xfrm>
            <a:off x="9410700" y="54610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推翻谨慎结论需要的证据</a:t>
            </a:r>
            <a:endParaRPr lang="en-US" sz="1600" noProof="1"/>
          </a:p>
        </p:txBody>
      </p:sp>
      <p:sp>
        <p:nvSpPr>
          <p:cNvPr id="24" name="falsify-body"/>
          <p:cNvSpPr txBox="1"/>
          <p:nvPr/>
        </p:nvSpPr>
        <p:spPr>
          <a:xfrm>
            <a:off x="9410700" y="5842000"/>
            <a:ext cx="7874000" cy="237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连续两个季度收入与扣非超预期且现金同步；披露可核验的生产力场景复购与连续作业；或估值显著回落，使基准情景重新提供安全边际。</a:t>
            </a:r>
            <a:endParaRPr lang="en-US" sz="1600" noProof="1"/>
          </a:p>
        </p:txBody>
      </p:sp>
      <p:sp>
        <p:nvSpPr>
          <p:cNvPr id="25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本页为团队投资判断；事实依据见P9、P12、P17—20。2. 不构成个性化交易建议。</a:t>
            </a:r>
            <a:endParaRPr lang="en-US" sz="1200" noProof="1"/>
          </a:p>
        </p:txBody>
      </p:sp>
      <p:sp>
        <p:nvSpPr>
          <p:cNvPr id="26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7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28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29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24</a:t>
            </a:r>
            <a:endParaRPr lang="en-US" sz="12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-breadcrumb"/>
          <p:cNvSpPr txBox="1"/>
          <p:nvPr/>
        </p:nvSpPr>
        <p:spPr>
          <a:xfrm>
            <a:off x="825500" y="158750"/>
            <a:ext cx="166624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66666"/>
                </a:solidFill>
                <a:latin typeface="Arial"/>
                <a:ea typeface="Arial"/>
              </a:rPr>
              <a:t>Appendix › Monitoring &amp; Method</a:t>
            </a:r>
            <a:endParaRPr lang="en-US" sz="1400" noProof="1"/>
          </a:p>
        </p:txBody>
      </p:sp>
      <p:sp>
        <p:nvSpPr>
          <p:cNvPr id="3" name="chrome-title"/>
          <p:cNvSpPr txBox="1"/>
          <p:nvPr/>
        </p:nvSpPr>
        <p:spPr>
          <a:xfrm>
            <a:off x="825500" y="416560"/>
            <a:ext cx="16662400" cy="882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98000"/>
              </a:lnSpc>
            </a:pPr>
            <a:r>
              <a:rPr lang="en-US" sz="2800" noProof="1" b="1">
                <a:solidFill>
                  <a:srgbClr val="000000"/>
                </a:solidFill>
                <a:latin typeface="Georgia"/>
                <a:ea typeface="Georgia"/>
              </a:rPr>
              <a:t>投委会保留4项季度跟踪，事实、预测与情景始终分层</a:t>
            </a:r>
            <a:r>
              <a:rPr lang="en-US" sz="2800" noProof="1" b="1" baseline="30000">
                <a:solidFill>
                  <a:srgbClr val="000000"/>
                </a:solidFill>
                <a:latin typeface="Georgia"/>
                <a:ea typeface="Georgia"/>
              </a:rPr>
              <a:t>1</a:t>
            </a:r>
            <a:endParaRPr lang="en-US" sz="2800" noProof="1"/>
          </a:p>
        </p:txBody>
      </p:sp>
      <p:sp>
        <p:nvSpPr>
          <p:cNvPr id="4" name="chrome-subtitle"/>
          <p:cNvSpPr txBox="1"/>
          <p:nvPr/>
        </p:nvSpPr>
        <p:spPr>
          <a:xfrm>
            <a:off x="825500" y="1388110"/>
            <a:ext cx="16662400" cy="273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3000"/>
              </a:lnSpc>
            </a:pPr>
            <a:r>
              <a:rPr lang="en-US" sz="1800" noProof="1">
                <a:solidFill>
                  <a:srgbClr val="333333"/>
                </a:solidFill>
                <a:latin typeface="Arial"/>
                <a:ea typeface="Arial"/>
              </a:rPr>
              <a:t>下一次评审应以Q3兑现和真实场景证据更新，而非重复行业叙事</a:t>
            </a:r>
            <a:endParaRPr lang="en-US" sz="1800" noProof="1"/>
          </a:p>
        </p:txBody>
      </p:sp>
      <p:sp>
        <p:nvSpPr>
          <p:cNvPr id="5" name="chrome-rule-top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174371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6" name="close-h"/>
          <p:cNvSpPr txBox="1"/>
          <p:nvPr/>
        </p:nvSpPr>
        <p:spPr>
          <a:xfrm>
            <a:off x="825500" y="19431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51C2C"/>
                </a:solidFill>
                <a:latin typeface="Arial"/>
                <a:ea typeface="Arial"/>
              </a:rPr>
              <a:t>投委会后续跟踪清单</a:t>
            </a:r>
            <a:endParaRPr lang="en-US" sz="1800" noProof="1"/>
          </a:p>
        </p:txBody>
      </p:sp>
      <p:sp>
        <p:nvSpPr>
          <p:cNvPr id="7" name="close-table-h0"/>
          <p:cNvSpPr txBox="1"/>
          <p:nvPr/>
        </p:nvSpPr>
        <p:spPr>
          <a:xfrm>
            <a:off x="825500" y="2413000"/>
            <a:ext cx="297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模块</a:t>
            </a:r>
            <a:endParaRPr lang="en-US" sz="1400" noProof="1"/>
          </a:p>
        </p:txBody>
      </p:sp>
      <p:sp>
        <p:nvSpPr>
          <p:cNvPr id="8" name="close-table-h1"/>
          <p:cNvSpPr txBox="1"/>
          <p:nvPr/>
        </p:nvSpPr>
        <p:spPr>
          <a:xfrm>
            <a:off x="3873500" y="2413000"/>
            <a:ext cx="6527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季度跟踪项</a:t>
            </a:r>
            <a:endParaRPr lang="en-US" sz="1400" noProof="1"/>
          </a:p>
        </p:txBody>
      </p:sp>
      <p:sp>
        <p:nvSpPr>
          <p:cNvPr id="9" name="close-table-h2"/>
          <p:cNvSpPr txBox="1"/>
          <p:nvPr/>
        </p:nvSpPr>
        <p:spPr>
          <a:xfrm>
            <a:off x="10477500" y="2413000"/>
            <a:ext cx="627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400" noProof="1" b="1">
                <a:solidFill>
                  <a:srgbClr val="666666"/>
                </a:solidFill>
                <a:latin typeface="Arial"/>
                <a:ea typeface="Arial"/>
              </a:rPr>
              <a:t>决策用途</a:t>
            </a:r>
            <a:endParaRPr lang="en-US" sz="1400" noProof="1"/>
          </a:p>
        </p:txBody>
      </p:sp>
      <p:sp>
        <p:nvSpPr>
          <p:cNvPr id="10" name="close-table-hr0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27305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000000"/>
            </a:solidFill>
          </a:ln>
        </p:spPr>
      </p:sp>
      <p:sp>
        <p:nvSpPr>
          <p:cNvPr id="11" name="close-table-r0c0"/>
          <p:cNvSpPr txBox="1"/>
          <p:nvPr/>
        </p:nvSpPr>
        <p:spPr>
          <a:xfrm>
            <a:off x="825500" y="279400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收入兑现</a:t>
            </a:r>
            <a:endParaRPr lang="en-US" sz="1600" noProof="1"/>
          </a:p>
        </p:txBody>
      </p:sp>
      <p:sp>
        <p:nvSpPr>
          <p:cNvPr id="12" name="close-table-r0c1"/>
          <p:cNvSpPr txBox="1"/>
          <p:nvPr/>
        </p:nvSpPr>
        <p:spPr>
          <a:xfrm>
            <a:off x="3873500" y="2794000"/>
            <a:ext cx="6527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Q3/Q4收入、销量、均价、H2同比</a:t>
            </a:r>
            <a:endParaRPr lang="en-US" sz="1600" noProof="1"/>
          </a:p>
        </p:txBody>
      </p:sp>
      <p:sp>
        <p:nvSpPr>
          <p:cNvPr id="13" name="close-table-r0c2"/>
          <p:cNvSpPr txBox="1"/>
          <p:nvPr/>
        </p:nvSpPr>
        <p:spPr>
          <a:xfrm>
            <a:off x="10477500" y="2794000"/>
            <a:ext cx="6273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全年预测是否需要下修</a:t>
            </a:r>
            <a:endParaRPr lang="en-US" sz="1600" noProof="1"/>
          </a:p>
        </p:txBody>
      </p:sp>
      <p:sp>
        <p:nvSpPr>
          <p:cNvPr id="14" name="close-table-hr1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35941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5" name="close-table-r1c0"/>
          <p:cNvSpPr txBox="1"/>
          <p:nvPr/>
        </p:nvSpPr>
        <p:spPr>
          <a:xfrm>
            <a:off x="825500" y="365760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盈利质量</a:t>
            </a:r>
            <a:endParaRPr lang="en-US" sz="1600" noProof="1"/>
          </a:p>
        </p:txBody>
      </p:sp>
      <p:sp>
        <p:nvSpPr>
          <p:cNvPr id="16" name="close-table-r1c1"/>
          <p:cNvSpPr txBox="1"/>
          <p:nvPr/>
        </p:nvSpPr>
        <p:spPr>
          <a:xfrm>
            <a:off x="3873500" y="3657600"/>
            <a:ext cx="6527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扣非、毛利率、研发/销售费用率</a:t>
            </a:r>
            <a:endParaRPr lang="en-US" sz="1600" noProof="1"/>
          </a:p>
        </p:txBody>
      </p:sp>
      <p:sp>
        <p:nvSpPr>
          <p:cNvPr id="17" name="close-table-r1c2"/>
          <p:cNvSpPr txBox="1"/>
          <p:nvPr/>
        </p:nvSpPr>
        <p:spPr>
          <a:xfrm>
            <a:off x="10477500" y="3657600"/>
            <a:ext cx="6273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投入是否形成经营杠杆</a:t>
            </a:r>
            <a:endParaRPr lang="en-US" sz="1600" noProof="1"/>
          </a:p>
        </p:txBody>
      </p:sp>
      <p:sp>
        <p:nvSpPr>
          <p:cNvPr id="18" name="close-table-hr2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44577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19" name="close-table-r2c0"/>
          <p:cNvSpPr txBox="1"/>
          <p:nvPr/>
        </p:nvSpPr>
        <p:spPr>
          <a:xfrm>
            <a:off x="825500" y="452120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现金与交付</a:t>
            </a:r>
            <a:endParaRPr lang="en-US" sz="1600" noProof="1"/>
          </a:p>
        </p:txBody>
      </p:sp>
      <p:sp>
        <p:nvSpPr>
          <p:cNvPr id="20" name="close-table-r2c1"/>
          <p:cNvSpPr txBox="1"/>
          <p:nvPr/>
        </p:nvSpPr>
        <p:spPr>
          <a:xfrm>
            <a:off x="3873500" y="4521200"/>
            <a:ext cx="6527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经营现金流、存货、应收、合同负债</a:t>
            </a:r>
            <a:endParaRPr lang="en-US" sz="1600" noProof="1"/>
          </a:p>
        </p:txBody>
      </p:sp>
      <p:sp>
        <p:nvSpPr>
          <p:cNvPr id="21" name="close-table-r2c2"/>
          <p:cNvSpPr txBox="1"/>
          <p:nvPr/>
        </p:nvSpPr>
        <p:spPr>
          <a:xfrm>
            <a:off x="10477500" y="4521200"/>
            <a:ext cx="6273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出货是否转化为回款</a:t>
            </a:r>
            <a:endParaRPr lang="en-US" sz="1600" noProof="1"/>
          </a:p>
        </p:txBody>
      </p:sp>
      <p:sp>
        <p:nvSpPr>
          <p:cNvPr id="22" name="close-table-hr3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53213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3" name="close-table-r3c0"/>
          <p:cNvSpPr txBox="1"/>
          <p:nvPr/>
        </p:nvSpPr>
        <p:spPr>
          <a:xfrm>
            <a:off x="825500" y="5384800"/>
            <a:ext cx="2971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商业化</a:t>
            </a:r>
            <a:endParaRPr lang="en-US" sz="1600" noProof="1"/>
          </a:p>
        </p:txBody>
      </p:sp>
      <p:sp>
        <p:nvSpPr>
          <p:cNvPr id="24" name="close-table-r3c1"/>
          <p:cNvSpPr txBox="1"/>
          <p:nvPr/>
        </p:nvSpPr>
        <p:spPr>
          <a:xfrm>
            <a:off x="3873500" y="5384800"/>
            <a:ext cx="6527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生产力场景复购、连续作业、客户ROI</a:t>
            </a:r>
            <a:endParaRPr lang="en-US" sz="1600" noProof="1"/>
          </a:p>
        </p:txBody>
      </p:sp>
      <p:sp>
        <p:nvSpPr>
          <p:cNvPr id="25" name="close-table-r3c2"/>
          <p:cNvSpPr txBox="1"/>
          <p:nvPr/>
        </p:nvSpPr>
        <p:spPr>
          <a:xfrm>
            <a:off x="10477500" y="5384800"/>
            <a:ext cx="6273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是否具备上调长期假设的证据</a:t>
            </a:r>
            <a:endParaRPr lang="en-US" sz="1600" noProof="1"/>
          </a:p>
        </p:txBody>
      </p:sp>
      <p:sp>
        <p:nvSpPr>
          <p:cNvPr id="26" name="close-table-hr4"/>
          <p:cNvSpPr/>
          <p:nvPr>
            <p:extLst>
              <p:ext uri="{F5677B7D-0D2A-4D9B-9A5C-6D8D7D0E5A5D}">
                <pptd:line encoding="base64url">eyJ2aWV3Qm94IjpbMTI2MCwwLjhdLCJwb2ludHMiOiIwLDAuNCAxMjYwLDAuNCIsImN1cnZlIjoic2hhcnAifQ</pptd:line>
              </p:ext>
            </p:extLst>
          </p:nvPr>
        </p:nvSpPr>
        <p:spPr>
          <a:xfrm>
            <a:off x="825500" y="6184900"/>
            <a:ext cx="16002000" cy="10160"/>
          </a:xfrm>
          <a:custGeom>
            <a:avLst/>
            <a:gdLst/>
            <a:ahLst/>
            <a:cxnLst/>
            <a:rect l="l" t="t" r="r" b="b"/>
            <a:pathLst>
              <a:path w="1260" h="1">
                <a:moveTo>
                  <a:pt x="0" y="0"/>
                </a:moveTo>
                <a:lnTo>
                  <a:pt x="1260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27" name="method-bg"/>
          <p:cNvSpPr/>
          <p:nvPr/>
        </p:nvSpPr>
        <p:spPr>
          <a:xfrm>
            <a:off x="825500" y="6604000"/>
            <a:ext cx="16687800" cy="1714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28" name="method-title"/>
          <p:cNvSpPr txBox="1"/>
          <p:nvPr/>
        </p:nvSpPr>
        <p:spPr>
          <a:xfrm>
            <a:off x="1028700" y="6731000"/>
            <a:ext cx="16281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51C2C"/>
                </a:solidFill>
                <a:latin typeface="Arial"/>
                <a:ea typeface="Arial"/>
              </a:rPr>
              <a:t>方法论与交付边界</a:t>
            </a:r>
            <a:endParaRPr lang="en-US" sz="1600" noProof="1"/>
          </a:p>
        </p:txBody>
      </p:sp>
      <p:sp>
        <p:nvSpPr>
          <p:cNvPr id="29" name="method-body"/>
          <p:cNvSpPr txBox="1"/>
          <p:nvPr/>
        </p:nvSpPr>
        <p:spPr>
          <a:xfrm>
            <a:off x="1028700" y="7112000"/>
            <a:ext cx="162814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>
                <a:solidFill>
                  <a:srgbClr val="333333"/>
                </a:solidFill>
                <a:latin typeface="Arial"/>
                <a:ea typeface="Arial"/>
              </a:rPr>
              <a:t>已披露事实以公司/交易所原文为准；机构预测保留分歧；团队情景仅用于敏感性。2026Q3、真实复购与连续作业数据在截止日缺失，均明确保留。5份研报原文、关键数据底表、数据登记册和来源清单位于output。</a:t>
            </a:r>
            <a:endParaRPr lang="en-US" sz="1600" noProof="1"/>
          </a:p>
        </p:txBody>
      </p:sp>
      <p:sp>
        <p:nvSpPr>
          <p:cNvPr id="30" name="chrome-footnotes"/>
          <p:cNvSpPr txBox="1"/>
          <p:nvPr/>
        </p:nvSpPr>
        <p:spPr>
          <a:xfrm>
            <a:off x="825500" y="9196070"/>
            <a:ext cx="16662400" cy="655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1. 详细来源、原文链接、页码及口径见output/来源清单.md与关键数据底表。2. 本材料仅供投委会讨论。</a:t>
            </a:r>
            <a:endParaRPr lang="en-US" sz="1200" noProof="1"/>
          </a:p>
        </p:txBody>
      </p:sp>
      <p:sp>
        <p:nvSpPr>
          <p:cNvPr id="31" name="chrome-rule-bottom"/>
          <p:cNvSpPr/>
          <p:nvPr>
            <p:extLst>
              <p:ext uri="{F5677B7D-0D2A-4D9B-9A5C-6D8D7D0E5A5D}">
                <pptd:line encoding="base64url">eyJ2aWV3Qm94IjpbMTMxNCwwLjhdLCJwb2ludHMiOiIwLDAuNCAxMzE0LDAuNCIsImN1cnZlIjoic2hhcnAifQ</pptd:line>
              </p:ext>
            </p:extLst>
          </p:nvPr>
        </p:nvSpPr>
        <p:spPr>
          <a:xfrm>
            <a:off x="800100" y="9916160"/>
            <a:ext cx="16687800" cy="10160"/>
          </a:xfrm>
          <a:custGeom>
            <a:avLst/>
            <a:gdLst/>
            <a:ahLst/>
            <a:cxnLst/>
            <a:rect l="l" t="t" r="r" b="b"/>
            <a:pathLst>
              <a:path w="1314" h="1">
                <a:moveTo>
                  <a:pt x="0" y="0"/>
                </a:moveTo>
                <a:lnTo>
                  <a:pt x="1314" y="0"/>
                </a:lnTo>
              </a:path>
            </a:pathLst>
          </a:custGeom>
          <a:noFill/>
          <a:ln w="10160">
            <a:solidFill>
              <a:srgbClr val="CCCCCC"/>
            </a:solidFill>
          </a:ln>
        </p:spPr>
      </p:sp>
      <p:sp>
        <p:nvSpPr>
          <p:cNvPr id="32" name="chrome-source"/>
          <p:cNvSpPr txBox="1"/>
          <p:nvPr/>
        </p:nvSpPr>
        <p:spPr>
          <a:xfrm>
            <a:off x="825500" y="10007600"/>
            <a:ext cx="635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Source: 公司披露；完整券商研报；团队分析（截至2026-10-26）</a:t>
            </a:r>
            <a:endParaRPr lang="en-US" sz="1200" noProof="1"/>
          </a:p>
        </p:txBody>
      </p:sp>
      <p:sp>
        <p:nvSpPr>
          <p:cNvPr id="33" name="chrome-brand-center"/>
          <p:cNvSpPr txBox="1"/>
          <p:nvPr/>
        </p:nvSpPr>
        <p:spPr>
          <a:xfrm>
            <a:off x="10414000" y="10007600"/>
            <a:ext cx="50800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IC MEMO · 投决会材料</a:t>
            </a:r>
            <a:endParaRPr lang="en-US" sz="1200" noProof="1"/>
          </a:p>
        </p:txBody>
      </p:sp>
      <p:sp>
        <p:nvSpPr>
          <p:cNvPr id="34" name="chrome-pageno"/>
          <p:cNvSpPr txBox="1"/>
          <p:nvPr/>
        </p:nvSpPr>
        <p:spPr>
          <a:xfrm>
            <a:off x="15875000" y="10007600"/>
            <a:ext cx="1612900" cy="18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00000"/>
              </a:lnSpc>
            </a:pPr>
            <a:r>
              <a:rPr lang="en-US" sz="1200" noProof="1">
                <a:solidFill>
                  <a:srgbClr val="666666"/>
                </a:solidFill>
                <a:latin typeface="Arial"/>
                <a:ea typeface="Arial"/>
              </a:rPr>
              <a:t>25</a:t>
            </a:r>
            <a:endParaRPr lang="en-US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051C2C"/>
      </a:dk2>
      <a:lt2>
        <a:srgbClr val="F2F2F2"/>
      </a:lt2>
      <a:accent1>
        <a:srgbClr val="00A9F4"/>
      </a:accent1>
      <a:accent2>
        <a:srgbClr val="006BA6"/>
      </a:accent2>
      <a:accent3>
        <a:srgbClr val="B8C4CC"/>
      </a:accent3>
      <a:accent4>
        <a:srgbClr val="E3F2FD"/>
      </a:accent4>
      <a:accent5>
        <a:srgbClr val="666666"/>
      </a:accent5>
      <a:accent6>
        <a:srgbClr val="999999"/>
      </a:accent6>
      <a:hlink>
        <a:srgbClr val="006BA6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25</Slides>
</Properties>
</file>

<file path=docProps/core.xml><?xml version="1.0" encoding="utf-8"?>
<cp:coreProperties xmlns:dc="http://purl.org/dc/elements/1.1/" xmlns:cp="http://schemas.openxmlformats.org/package/2006/metadata/core-properties">
  <dc:title>presentation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